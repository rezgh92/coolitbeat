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rief" id="{a84f00e4-18ea-74f7-2a4e-9cf0292b2581}">
          <p14:sldIdLst>
            <p14:sldId id="256"/>
            <p14:sldId id="257"/>
            <p14:sldId id="258"/>
          </p14:sldIdLst>
        </p14:section>
        <p14:section name="Design" id="{118be23f-7098-62dc-8505-cb8ae40afa50}">
          <p14:sldIdLst>
            <p14:sldId id="259"/>
            <p14:sldId id="260"/>
            <p14:sldId id="261"/>
            <p14:sldId id="262"/>
            <p14:sldId id="263"/>
            <p14:sldId id="264"/>
          </p14:sldIdLst>
        </p14:section>
        <p14:section name="Performance" id="{e1db7514-8c9a-97f8-8694-f2076e96c084}">
          <p14:sldIdLst>
            <p14:sldId id="265"/>
            <p14:sldId id="266"/>
            <p14:sldId id="267"/>
          </p14:sldIdLst>
        </p14:section>
        <p14:section name="Build" id="{4ea1b236-9a69-36a2-9114-e77648226b7f}">
          <p14:sldIdLst>
            <p14:sldId id="268"/>
            <p14:sldId id="269"/>
            <p14:sldId id="270"/>
            <p14:sldId id="271"/>
          </p14:sldIdLst>
        </p14:section>
        <p14:section name="Honesty" id="{644637d5-8c1b-fc40-8c06-4131ec813f72}">
          <p14:sldIdLst>
            <p14:sldId id="272"/>
            <p14:sldId id="273"/>
          </p14:sldIdLst>
        </p14:section>
        <p14:section name="Business" id="{67915d69-8018-a755-41df-d82e915abeed}">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the design review for PRISM-15 Rev A. The brief was to set CoolIT’s 15 kW cold plate as the benchmark and design a conventionally manufacturable plate that beats it. Everything shown is a model prediction until the first coupons and plates are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CoolIT’s brief reports exactly one operating point and three numbers. Everything else about their plate is reconstructed, and we say so wherever a CoolIT-like number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CoolIT’s numbers are measured; everything in the CoolIT column marked estimated or reconstructed is ours. PRISM’s advantage is largest on the maximum, which is what limits a chip, and on pressure drop, which is what limits a 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rules do most of the work. The flow length is the lever on the caloric term, the fine fins on the convection term, and the ties on the base term and on the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part is a stamping, a fold, a draw, a laser blank or a skived block. The stack goes into one fixture on two alumina pins and comes out of the furnace as a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Skiving at 0.15 by 0.15 by 2.0 mm in copper is at the edge of current capability, which is why the first-article plan starts with a six-blank skiving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grate is two laminations because the recess must open toward the web. Putting the orifices 1.3 mm above the braze plane makes the meter immune to braze fillets.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verification round found that stamped laminations could not be made at these web widths and that a forged header bar cost height, mass and money the physics did not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point of the metered grate. A split-flow plate needs a new skiving program and often a new manifold for every package; here a zoning change is an artwork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pad is the recommended interface and the decision metric at gate G2 is the pad average at 18 LPM. Even the P90 paste average, 35.4 K, is close to CoolIT’s measured 34.4.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0.75 LPM per kW the 15 kW outlet exceeds 65 °C and the OCP sweep is run at reduced power. The pressure-drop test is the cheapest and first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defect story is the honest centre of the structural case. A tied plate is only as good as its worst land strip.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routing is ordered so that helium testing happens before any wet step and the infrared screen before the fly-cut coats the die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is the one metric the plate loses outright. The silver filler and the 100 % test regime are most of the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the clamp path touches the fin ties: the load goes from the cap lands down the plenum end frames into the solid 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part is built from the one parameter file, a change decided at gate G1 regenerates the parts, the assembly check, the drawings and the mass table 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claim of beats on every metric would be false and would be shown false by the first independent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kerf is a weak design-around of CoolIT’s Split-Flow patents, which run to September 2028 in the US. The programme therefore builds and sells outside the US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patent filing covers the combination: ties, kerfs, stepped grate and graded meter. Everything that would have to be disclosed to be patented but is unenforceable offshore stays a trade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A1 socket is contested: Group-A houses already ship liquid products for TPU and Trainium. The pitch to a hyperscaler is the zoned plate, the tray filter and the data pack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are written so that the first US$2.3 million buys the answer to the only question that can sink the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 and D5 are the two that protect the company: an honest claim that survives an independent lab, and no US exposure before counsel has read CoolIT’s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braze coupons pass and the water table confirms the segment balance, every number in this deck is on track to be measured by month 6 and repeated independently by month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519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6400800" cy="1280160"/>
          </a:xfrm>
          <a:prstGeom prst="rect">
            <a:avLst/>
          </a:prstGeom>
          <a:noFill/>
          <a:ln/>
        </p:spPr>
        <p:txBody>
          <a:bodyPr wrap="square" rtlCol="0"/>
          <a:lstStyle>
            <a:lvl1pPr algn="l" indent="0" marL="0">
              <a:buNone/>
              <a:defRPr lang="en-US" sz="5400" b="1" dirty="0">
                <a:solidFill>
                  <a:schemeClr val="bg2"/>
                </a:solidFill>
              </a:defRPr>
            </a:lvl1pPr>
          </a:lstStyle>
          <a:p>
            <a:pPr algn="l" indent="0" marL="0">
              <a:buNone/>
            </a:pPr>
            <a:endParaRPr lang="en-US" sz="5400" dirty="0"/>
          </a:p>
        </p:txBody>
      </p:sp>
      <p:sp>
        <p:nvSpPr>
          <p:cNvPr id="3" name="Text 0"/>
          <p:cNvSpPr/>
          <p:nvPr>
            <p:ph idx="101" type="body" hasCustomPrompt="1"/>
          </p:nvPr>
        </p:nvSpPr>
        <p:spPr>
          <a:xfrm>
            <a:off x="640080" y="3474720"/>
            <a:ext cx="6400800" cy="1463040"/>
          </a:xfrm>
          <a:prstGeom prst="rect">
            <a:avLst/>
          </a:prstGeom>
          <a:noFill/>
          <a:ln/>
        </p:spPr>
        <p:txBody>
          <a:bodyPr wrap="square" rtlCol="0"/>
          <a:lstStyle>
            <a:lvl1pPr indent="0" marL="0">
              <a:buNone/>
              <a:defRPr lang="en-US" sz="2000" dirty="0">
                <a:solidFill>
                  <a:srgbClr val="C9C4BB"/>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900" dirty="0">
                <a:solidFill>
                  <a:schemeClr val="accent5"/>
                </a:solidFill>
              </a:rPr>
              <a:t>PRISM-15 Rev A · design review · October 2026 · all performance figures are model predictions</a:t>
            </a:r>
            <a:endParaRPr lang="en-US" sz="900" dirty="0"/>
          </a:p>
        </p:txBody>
      </p:sp>
      <p:sp>
        <p:nvSpPr>
          <p:cNvPr id="5" name="Text 1"/>
          <p:cNvSpPr/>
          <p:nvPr/>
        </p:nvSpPr>
        <p:spPr>
          <a:xfrm>
            <a:off x="10241280" y="320040"/>
            <a:ext cx="1371600" cy="320040"/>
          </a:xfrm>
          <a:prstGeom prst="rect">
            <a:avLst/>
          </a:prstGeom>
          <a:noFill/>
          <a:ln/>
        </p:spPr>
        <p:txBody>
          <a:bodyPr wrap="square" lIns="0" tIns="0" rIns="0" bIns="0" rtlCol="0" anchor="ctr"/>
          <a:lstStyle/>
          <a:p>
            <a:pPr algn="r" indent="0" marL="0">
              <a:buNone/>
            </a:pPr>
            <a:r>
              <a:rPr lang="en-US" sz="1000" dirty="0">
                <a:solidFill>
                  <a:schemeClr val="accent5"/>
                </a:solidFill>
              </a:rPr>
              <a:t>PRISM-15 Rev A</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5191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lvl1pPr indent="0" marL="0">
              <a:buNone/>
              <a:defRPr lang="en-US" sz="1100" b="1" spc="300" kern="0" dirty="0">
                <a:solidFill>
                  <a:schemeClr val="accent3"/>
                </a:solidFill>
              </a:defRPr>
            </a:lvl1pPr>
          </a:lstStyle>
          <a:p>
            <a:pPr indent="0" marL="0">
              <a:buNone/>
            </a:pP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rtlCol="0"/>
          <a:lstStyle>
            <a:lvl1pPr algn="l" indent="0" marL="0">
              <a:buNone/>
              <a:defRPr lang="en-US" sz="2800" b="1" dirty="0">
                <a:solidFill>
                  <a:schemeClr val="bg2"/>
                </a:solidFill>
              </a:defRPr>
            </a:lvl1pPr>
          </a:lstStyle>
          <a:p>
            <a:pPr algn="l" indent="0" marL="0">
              <a:buNone/>
            </a:pPr>
            <a:endParaRPr lang="en-US" sz="2800" dirty="0"/>
          </a:p>
        </p:txBody>
      </p:sp>
      <p:sp>
        <p:nvSpPr>
          <p:cNvPr id="4"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900" dirty="0">
                <a:solidFill>
                  <a:schemeClr val="accent5"/>
                </a:solidFill>
              </a:rPr>
              <a:t>PRISM-15 Rev A · design review · October 2026 · all performance figures are model predictions</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1</a:t>
            </a:r>
            <a:endParaRPr lang="en-US" sz="900" dirty="0"/>
          </a:p>
        </p:txBody>
      </p:sp>
      <p:sp>
        <p:nvSpPr>
          <p:cNvPr id="4" name="Text 0"/>
          <p:cNvSpPr/>
          <p:nvPr>
            <p:ph idx="100" type="title" hasCustomPrompt="1"/>
          </p:nvPr>
        </p:nvSpPr>
        <p:spPr>
          <a:xfrm>
            <a:off x="640080" y="2103120"/>
            <a:ext cx="6400800" cy="1280160"/>
          </a:xfrm>
          <a:prstGeom prst="rect">
            <a:avLst/>
          </a:prstGeom>
          <a:noFill/>
          <a:ln/>
        </p:spPr>
        <p:txBody>
          <a:bodyPr wrap="square" lIns="0" tIns="0" rIns="0" bIns="0" rtlCol="0"/>
          <a:lstStyle/>
          <a:p>
            <a:pPr algn="l" indent="0" marL="0">
              <a:buNone/>
            </a:pPr>
            <a:r>
              <a:rPr lang="en-US" sz="5400" b="1" dirty="0">
                <a:solidFill>
                  <a:schemeClr val="bg2"/>
                </a:solidFill>
              </a:rPr>
              <a:t>PRISM-15 Rev A</a:t>
            </a:r>
            <a:endParaRPr lang="en-US" sz="5400" dirty="0"/>
          </a:p>
        </p:txBody>
      </p:sp>
      <p:sp>
        <p:nvSpPr>
          <p:cNvPr id="5" name="Text 0"/>
          <p:cNvSpPr/>
          <p:nvPr>
            <p:ph idx="101" type="body" hasCustomPrompt="1"/>
          </p:nvPr>
        </p:nvSpPr>
        <p:spPr>
          <a:xfrm>
            <a:off x="640080" y="3474720"/>
            <a:ext cx="6400800" cy="1463040"/>
          </a:xfrm>
          <a:prstGeom prst="rect">
            <a:avLst/>
          </a:prstGeom>
          <a:noFill/>
          <a:ln/>
        </p:spPr>
        <p:txBody>
          <a:bodyPr wrap="square" lIns="0" tIns="0" rIns="0" bIns="0" rtlCol="0"/>
          <a:lstStyle/>
          <a:p>
            <a:pPr indent="0" marL="0">
              <a:buNone/>
            </a:pPr>
            <a:r>
              <a:rPr lang="en-US" sz="2000" dirty="0">
                <a:solidFill>
                  <a:srgbClr val="C9C4BB"/>
                </a:solidFill>
              </a:rPr>
              <a:t>A copper cold plate designed to beat the CoolIT 15 kW benchmark at its own operating point</a:t>
            </a:r>
            <a:endParaRPr lang="en-US" sz="2000" dirty="0"/>
          </a:p>
        </p:txBody>
      </p:sp>
      <p:sp>
        <p:nvSpPr>
          <p:cNvPr id="6" name="text"/>
          <p:cNvSpPr txBox="1"/>
          <p:nvPr/>
        </p:nvSpPr>
        <p:spPr>
          <a:xfrm>
            <a:off x="640080" y="1600200"/>
            <a:ext cx="6400800" cy="365760"/>
          </a:xfrm>
          <a:prstGeom prst="rect">
            <a:avLst/>
          </a:prstGeom>
          <a:noFill/>
          <a:ln/>
        </p:spPr>
        <p:txBody>
          <a:bodyPr wrap="square" lIns="0" tIns="0" rIns="0" bIns="0" rtlCol="0" anchor="t"/>
          <a:lstStyle/>
          <a:p>
            <a:pPr indent="0" marL="0">
              <a:buNone/>
            </a:pPr>
            <a:r>
              <a:rPr lang="en-US" sz="1100" b="1" spc="300" kern="0" dirty="0">
                <a:solidFill>
                  <a:srgbClr val="D08A5E"/>
                </a:solidFill>
              </a:rPr>
              <a:t>DESIGN REVIEW  ·  16 OCTOBER 2026</a:t>
            </a:r>
            <a:endParaRPr lang="en-US" sz="1100" dirty="0"/>
          </a:p>
        </p:txBody>
      </p:sp>
      <p:sp>
        <p:nvSpPr>
          <p:cNvPr id="7" name="text"/>
          <p:cNvSpPr txBox="1"/>
          <p:nvPr/>
        </p:nvSpPr>
        <p:spPr>
          <a:xfrm>
            <a:off x="640080" y="5029200"/>
            <a:ext cx="6400800" cy="822960"/>
          </a:xfrm>
          <a:prstGeom prst="rect">
            <a:avLst/>
          </a:prstGeom>
          <a:noFill/>
          <a:ln/>
        </p:spPr>
        <p:txBody>
          <a:bodyPr wrap="square" lIns="0" tIns="0" rIns="0" bIns="0" rtlCol="0" anchor="t"/>
          <a:lstStyle/>
          <a:p>
            <a:pPr indent="0" marL="0">
              <a:buNone/>
            </a:pPr>
            <a:r>
              <a:rPr lang="en-US" sz="1200" dirty="0">
                <a:solidFill>
                  <a:srgbClr val="8F8A82"/>
                </a:solidFill>
              </a:rPr>
              <a:t>Architecture, dimensioned design, parametric CAD, predicted datasheet, manufacturing route and programme. Every performance number is a model prediction: no hardware exists yet.</a:t>
            </a:r>
            <a:endParaRPr lang="en-US" sz="1200" dirty="0"/>
          </a:p>
        </p:txBody>
      </p:sp>
      <p:pic>
        <p:nvPicPr>
          <p:cNvPr id="8" name="PRISM-15 Rev A on the thermal test vehicle" descr="PRISM-15 Rev A on the thermal test vehicle">    </p:cNvPr>
          <p:cNvPicPr>
            <a:picLocks noChangeAspect="1"/>
          </p:cNvPicPr>
          <p:nvPr/>
        </p:nvPicPr>
        <p:blipFill>
          <a:blip r:embed="rId1"/>
          <a:srcRect l="0" r="0" t="0" b="0"/>
          <a:stretch/>
        </p:blipFill>
        <p:spPr>
          <a:xfrm>
            <a:off x="7223760" y="914400"/>
            <a:ext cx="4572000" cy="3383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THE BRIEF</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Beat CoolIT’s 15 kW plate at its own published point</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2</a:t>
            </a:r>
            <a:endParaRPr lang="en-US" sz="900" dirty="0"/>
          </a:p>
        </p:txBody>
      </p:sp>
      <p:sp>
        <p:nvSpPr>
          <p:cNvPr id="6" name="tile four ceramic heaters, about 117 cm²"/>
          <p:cNvSpPr/>
          <p:nvPr/>
        </p:nvSpPr>
        <p:spPr>
          <a:xfrm>
            <a:off x="548640" y="1645920"/>
            <a:ext cx="2651760" cy="1371600"/>
          </a:xfrm>
          <a:prstGeom prst="roundRect">
            <a:avLst>
              <a:gd name="adj" fmla="val 8000"/>
            </a:avLst>
          </a:prstGeom>
          <a:solidFill>
            <a:srgbClr val="F7F5F1"/>
          </a:solidFill>
          <a:ln w="9525">
            <a:solidFill>
              <a:srgbClr val="DDD8CF"/>
            </a:solidFill>
            <a:prstDash val="solid"/>
          </a:ln>
        </p:spPr>
      </p:sp>
      <p:sp>
        <p:nvSpPr>
          <p:cNvPr id="7" name="tile value four ceramic heaters, about 117 cm²"/>
          <p:cNvSpPr txBox="1"/>
          <p:nvPr/>
        </p:nvSpPr>
        <p:spPr>
          <a:xfrm>
            <a:off x="731520" y="1755648"/>
            <a:ext cx="2286000" cy="754380"/>
          </a:xfrm>
          <a:prstGeom prst="rect">
            <a:avLst/>
          </a:prstGeom>
          <a:noFill/>
          <a:ln/>
        </p:spPr>
        <p:txBody>
          <a:bodyPr wrap="square" lIns="0" tIns="0" rIns="0" bIns="0" rtlCol="0" anchor="ctr"/>
          <a:lstStyle/>
          <a:p>
            <a:pPr indent="0" marL="0">
              <a:buNone/>
            </a:pPr>
            <a:r>
              <a:rPr lang="en-US" sz="3200" b="1" dirty="0">
                <a:solidFill>
                  <a:srgbClr val="15191C"/>
                </a:solidFill>
              </a:rPr>
              <a:t>15 kW</a:t>
            </a:r>
            <a:endParaRPr lang="en-US" sz="3200" dirty="0"/>
          </a:p>
        </p:txBody>
      </p:sp>
      <p:sp>
        <p:nvSpPr>
          <p:cNvPr id="8" name="tile label four ceramic heaters, about 117 cm²"/>
          <p:cNvSpPr txBox="1"/>
          <p:nvPr/>
        </p:nvSpPr>
        <p:spPr>
          <a:xfrm>
            <a:off x="731520" y="2468880"/>
            <a:ext cx="2286000" cy="521208"/>
          </a:xfrm>
          <a:prstGeom prst="rect">
            <a:avLst/>
          </a:prstGeom>
          <a:noFill/>
          <a:ln/>
        </p:spPr>
        <p:txBody>
          <a:bodyPr wrap="square" lIns="0" tIns="0" rIns="0" bIns="0" rtlCol="0" anchor="t"/>
          <a:lstStyle/>
          <a:p>
            <a:pPr indent="0" marL="0">
              <a:buNone/>
            </a:pPr>
            <a:r>
              <a:rPr lang="en-US" sz="1100" dirty="0">
                <a:solidFill>
                  <a:srgbClr val="4A5058"/>
                </a:solidFill>
              </a:rPr>
              <a:t>four ceramic heaters, about 117 cm²</a:t>
            </a:r>
            <a:endParaRPr lang="en-US" sz="1100" dirty="0"/>
          </a:p>
        </p:txBody>
      </p:sp>
      <p:sp>
        <p:nvSpPr>
          <p:cNvPr id="9" name="tile PG25 water-glycol at 45 °C inlet"/>
          <p:cNvSpPr/>
          <p:nvPr/>
        </p:nvSpPr>
        <p:spPr>
          <a:xfrm>
            <a:off x="3383280" y="1645920"/>
            <a:ext cx="2651760" cy="1371600"/>
          </a:xfrm>
          <a:prstGeom prst="roundRect">
            <a:avLst>
              <a:gd name="adj" fmla="val 8000"/>
            </a:avLst>
          </a:prstGeom>
          <a:solidFill>
            <a:srgbClr val="F7F5F1"/>
          </a:solidFill>
          <a:ln w="9525">
            <a:solidFill>
              <a:srgbClr val="DDD8CF"/>
            </a:solidFill>
            <a:prstDash val="solid"/>
          </a:ln>
        </p:spPr>
      </p:sp>
      <p:sp>
        <p:nvSpPr>
          <p:cNvPr id="10" name="tile value PG25 water-glycol at 45 °C inlet"/>
          <p:cNvSpPr txBox="1"/>
          <p:nvPr/>
        </p:nvSpPr>
        <p:spPr>
          <a:xfrm>
            <a:off x="3566160" y="1755648"/>
            <a:ext cx="2286000" cy="754380"/>
          </a:xfrm>
          <a:prstGeom prst="rect">
            <a:avLst/>
          </a:prstGeom>
          <a:noFill/>
          <a:ln/>
        </p:spPr>
        <p:txBody>
          <a:bodyPr wrap="square" lIns="0" tIns="0" rIns="0" bIns="0" rtlCol="0" anchor="ctr"/>
          <a:lstStyle/>
          <a:p>
            <a:pPr indent="0" marL="0">
              <a:buNone/>
            </a:pPr>
            <a:r>
              <a:rPr lang="en-US" sz="3200" b="1" dirty="0">
                <a:solidFill>
                  <a:srgbClr val="15191C"/>
                </a:solidFill>
              </a:rPr>
              <a:t>18 LPM</a:t>
            </a:r>
            <a:endParaRPr lang="en-US" sz="3200" dirty="0"/>
          </a:p>
        </p:txBody>
      </p:sp>
      <p:sp>
        <p:nvSpPr>
          <p:cNvPr id="11" name="tile label PG25 water-glycol at 45 °C inlet"/>
          <p:cNvSpPr txBox="1"/>
          <p:nvPr/>
        </p:nvSpPr>
        <p:spPr>
          <a:xfrm>
            <a:off x="3566160" y="2468880"/>
            <a:ext cx="2286000" cy="521208"/>
          </a:xfrm>
          <a:prstGeom prst="rect">
            <a:avLst/>
          </a:prstGeom>
          <a:noFill/>
          <a:ln/>
        </p:spPr>
        <p:txBody>
          <a:bodyPr wrap="square" lIns="0" tIns="0" rIns="0" bIns="0" rtlCol="0" anchor="t"/>
          <a:lstStyle/>
          <a:p>
            <a:pPr indent="0" marL="0">
              <a:buNone/>
            </a:pPr>
            <a:r>
              <a:rPr lang="en-US" sz="1100" dirty="0">
                <a:solidFill>
                  <a:srgbClr val="4A5058"/>
                </a:solidFill>
              </a:rPr>
              <a:t>PG25 water-glycol at 45 °C inlet</a:t>
            </a:r>
            <a:endParaRPr lang="en-US" sz="1100" dirty="0"/>
          </a:p>
        </p:txBody>
      </p:sp>
      <p:sp>
        <p:nvSpPr>
          <p:cNvPr id="12" name="tile average case-to-inlet rise, standard paste"/>
          <p:cNvSpPr/>
          <p:nvPr/>
        </p:nvSpPr>
        <p:spPr>
          <a:xfrm>
            <a:off x="6217920" y="1645920"/>
            <a:ext cx="2651760" cy="1371600"/>
          </a:xfrm>
          <a:prstGeom prst="roundRect">
            <a:avLst>
              <a:gd name="adj" fmla="val 8000"/>
            </a:avLst>
          </a:prstGeom>
          <a:solidFill>
            <a:srgbClr val="F7F5F1"/>
          </a:solidFill>
          <a:ln w="9525">
            <a:solidFill>
              <a:srgbClr val="DDD8CF"/>
            </a:solidFill>
            <a:prstDash val="solid"/>
          </a:ln>
        </p:spPr>
      </p:sp>
      <p:sp>
        <p:nvSpPr>
          <p:cNvPr id="13" name="tile value average case-to-inlet rise, standard paste"/>
          <p:cNvSpPr txBox="1"/>
          <p:nvPr/>
        </p:nvSpPr>
        <p:spPr>
          <a:xfrm>
            <a:off x="6400800" y="1755648"/>
            <a:ext cx="2286000" cy="754380"/>
          </a:xfrm>
          <a:prstGeom prst="rect">
            <a:avLst/>
          </a:prstGeom>
          <a:noFill/>
          <a:ln/>
        </p:spPr>
        <p:txBody>
          <a:bodyPr wrap="square" lIns="0" tIns="0" rIns="0" bIns="0" rtlCol="0" anchor="ctr"/>
          <a:lstStyle/>
          <a:p>
            <a:pPr indent="0" marL="0">
              <a:buNone/>
            </a:pPr>
            <a:r>
              <a:rPr lang="en-US" sz="3200" b="1" dirty="0">
                <a:solidFill>
                  <a:srgbClr val="D08A5E"/>
                </a:solidFill>
              </a:rPr>
              <a:t>34.4 K</a:t>
            </a:r>
            <a:endParaRPr lang="en-US" sz="3200" dirty="0"/>
          </a:p>
        </p:txBody>
      </p:sp>
      <p:sp>
        <p:nvSpPr>
          <p:cNvPr id="14" name="tile label average case-to-inlet rise, standard paste"/>
          <p:cNvSpPr txBox="1"/>
          <p:nvPr/>
        </p:nvSpPr>
        <p:spPr>
          <a:xfrm>
            <a:off x="6400800" y="2468880"/>
            <a:ext cx="2286000" cy="521208"/>
          </a:xfrm>
          <a:prstGeom prst="rect">
            <a:avLst/>
          </a:prstGeom>
          <a:noFill/>
          <a:ln/>
        </p:spPr>
        <p:txBody>
          <a:bodyPr wrap="square" lIns="0" tIns="0" rIns="0" bIns="0" rtlCol="0" anchor="t"/>
          <a:lstStyle/>
          <a:p>
            <a:pPr indent="0" marL="0">
              <a:buNone/>
            </a:pPr>
            <a:r>
              <a:rPr lang="en-US" sz="1100" dirty="0">
                <a:solidFill>
                  <a:srgbClr val="4A5058"/>
                </a:solidFill>
              </a:rPr>
              <a:t>average case-to-inlet rise, standard paste</a:t>
            </a:r>
            <a:endParaRPr lang="en-US" sz="1100" dirty="0"/>
          </a:p>
        </p:txBody>
      </p:sp>
      <p:sp>
        <p:nvSpPr>
          <p:cNvPr id="15" name="tile hottest of 24 thermocouples on 3 plates"/>
          <p:cNvSpPr/>
          <p:nvPr/>
        </p:nvSpPr>
        <p:spPr>
          <a:xfrm>
            <a:off x="9052560" y="1645920"/>
            <a:ext cx="2651760" cy="1371600"/>
          </a:xfrm>
          <a:prstGeom prst="roundRect">
            <a:avLst>
              <a:gd name="adj" fmla="val 8000"/>
            </a:avLst>
          </a:prstGeom>
          <a:solidFill>
            <a:srgbClr val="F7F5F1"/>
          </a:solidFill>
          <a:ln w="9525">
            <a:solidFill>
              <a:srgbClr val="DDD8CF"/>
            </a:solidFill>
            <a:prstDash val="solid"/>
          </a:ln>
        </p:spPr>
      </p:sp>
      <p:sp>
        <p:nvSpPr>
          <p:cNvPr id="16" name="tile value hottest of 24 thermocouples on 3 plates"/>
          <p:cNvSpPr txBox="1"/>
          <p:nvPr/>
        </p:nvSpPr>
        <p:spPr>
          <a:xfrm>
            <a:off x="9235440" y="1755648"/>
            <a:ext cx="2286000" cy="754380"/>
          </a:xfrm>
          <a:prstGeom prst="rect">
            <a:avLst/>
          </a:prstGeom>
          <a:noFill/>
          <a:ln/>
        </p:spPr>
        <p:txBody>
          <a:bodyPr wrap="square" lIns="0" tIns="0" rIns="0" bIns="0" rtlCol="0" anchor="ctr"/>
          <a:lstStyle/>
          <a:p>
            <a:pPr indent="0" marL="0">
              <a:buNone/>
            </a:pPr>
            <a:r>
              <a:rPr lang="en-US" sz="3200" b="1" dirty="0">
                <a:solidFill>
                  <a:srgbClr val="D08A5E"/>
                </a:solidFill>
              </a:rPr>
              <a:t>44.2 K</a:t>
            </a:r>
            <a:endParaRPr lang="en-US" sz="3200" dirty="0"/>
          </a:p>
        </p:txBody>
      </p:sp>
      <p:sp>
        <p:nvSpPr>
          <p:cNvPr id="17" name="tile label hottest of 24 thermocouples on 3 plates"/>
          <p:cNvSpPr txBox="1"/>
          <p:nvPr/>
        </p:nvSpPr>
        <p:spPr>
          <a:xfrm>
            <a:off x="9235440" y="2468880"/>
            <a:ext cx="2286000" cy="521208"/>
          </a:xfrm>
          <a:prstGeom prst="rect">
            <a:avLst/>
          </a:prstGeom>
          <a:noFill/>
          <a:ln/>
        </p:spPr>
        <p:txBody>
          <a:bodyPr wrap="square" lIns="0" tIns="0" rIns="0" bIns="0" rtlCol="0" anchor="t"/>
          <a:lstStyle/>
          <a:p>
            <a:pPr indent="0" marL="0">
              <a:buNone/>
            </a:pPr>
            <a:r>
              <a:rPr lang="en-US" sz="1100" dirty="0">
                <a:solidFill>
                  <a:srgbClr val="4A5058"/>
                </a:solidFill>
              </a:rPr>
              <a:t>hottest of 24 thermocouples on 3 plates</a:t>
            </a:r>
            <a:endParaRPr lang="en-US" sz="1100" dirty="0"/>
          </a:p>
        </p:txBody>
      </p:sp>
      <p:sp>
        <p:nvSpPr>
          <p:cNvPr id="18" name="card What CoolIT did not publish"/>
          <p:cNvSpPr/>
          <p:nvPr/>
        </p:nvSpPr>
        <p:spPr>
          <a:xfrm>
            <a:off x="548640" y="3383280"/>
            <a:ext cx="5486400" cy="1920240"/>
          </a:xfrm>
          <a:prstGeom prst="roundRect">
            <a:avLst>
              <a:gd name="adj" fmla="val 5714"/>
            </a:avLst>
          </a:prstGeom>
          <a:solidFill>
            <a:srgbClr val="F7F5F1"/>
          </a:solidFill>
          <a:ln w="9525">
            <a:solidFill>
              <a:srgbClr val="DDD8CF"/>
            </a:solidFill>
            <a:prstDash val="solid"/>
          </a:ln>
        </p:spPr>
      </p:sp>
      <p:sp>
        <p:nvSpPr>
          <p:cNvPr id="19" name="card head What CoolIT did not publish"/>
          <p:cNvSpPr txBox="1"/>
          <p:nvPr/>
        </p:nvSpPr>
        <p:spPr>
          <a:xfrm>
            <a:off x="731520" y="3493008"/>
            <a:ext cx="5120640" cy="347472"/>
          </a:xfrm>
          <a:prstGeom prst="rect">
            <a:avLst/>
          </a:prstGeom>
          <a:noFill/>
          <a:ln/>
        </p:spPr>
        <p:txBody>
          <a:bodyPr wrap="square" lIns="0" tIns="0" rIns="0" bIns="0" rtlCol="0" anchor="t"/>
          <a:lstStyle/>
          <a:p>
            <a:pPr indent="0" marL="0">
              <a:buNone/>
            </a:pPr>
            <a:r>
              <a:rPr lang="en-US" sz="1400" b="1" dirty="0">
                <a:solidFill>
                  <a:srgbClr val="15191C"/>
                </a:solidFill>
              </a:rPr>
              <a:t>What CoolIT did not publish</a:t>
            </a:r>
            <a:endParaRPr lang="en-US" sz="1400" dirty="0"/>
          </a:p>
        </p:txBody>
      </p:sp>
      <p:sp>
        <p:nvSpPr>
          <p:cNvPr id="20" name="card body What CoolIT did not publish"/>
          <p:cNvSpPr txBox="1"/>
          <p:nvPr/>
        </p:nvSpPr>
        <p:spPr>
          <a:xfrm>
            <a:off x="731520" y="3858768"/>
            <a:ext cx="5120640" cy="1353312"/>
          </a:xfrm>
          <a:prstGeom prst="rect">
            <a:avLst/>
          </a:prstGeom>
          <a:noFill/>
          <a:ln/>
        </p:spPr>
        <p:txBody>
          <a:bodyPr wrap="square" lIns="0" tIns="0" rIns="0" bIns="0" rtlCol="0" anchor="t"/>
          <a:lstStyle/>
          <a:p>
            <a:pPr indent="0" marL="0">
              <a:buNone/>
            </a:pPr>
            <a:r>
              <a:rPr lang="en-US" sz="1300" dirty="0">
                <a:solidFill>
                  <a:srgbClr val="4A5058"/>
                </a:solidFill>
              </a:rPr>
              <a:t>Pressure drop, heated area, paste identity, height, mass. We reconstructed them from the brief’s photographs and a calibrated model: about 120 cm², about 22 kPa, a skived split-flow copper core.</a:t>
            </a:r>
            <a:endParaRPr lang="en-US" sz="1300" dirty="0"/>
          </a:p>
        </p:txBody>
      </p:sp>
      <p:sp>
        <p:nvSpPr>
          <p:cNvPr id="21" name="card The rules we set ourselves"/>
          <p:cNvSpPr/>
          <p:nvPr/>
        </p:nvSpPr>
        <p:spPr>
          <a:xfrm>
            <a:off x="6217920" y="3383280"/>
            <a:ext cx="5394960" cy="1920240"/>
          </a:xfrm>
          <a:prstGeom prst="roundRect">
            <a:avLst>
              <a:gd name="adj" fmla="val 5714"/>
            </a:avLst>
          </a:prstGeom>
          <a:solidFill>
            <a:srgbClr val="F7F5F1"/>
          </a:solidFill>
          <a:ln w="9525">
            <a:solidFill>
              <a:srgbClr val="DDD8CF"/>
            </a:solidFill>
            <a:prstDash val="solid"/>
          </a:ln>
        </p:spPr>
      </p:sp>
      <p:sp>
        <p:nvSpPr>
          <p:cNvPr id="22" name="card head The rules we set ourselves"/>
          <p:cNvSpPr txBox="1"/>
          <p:nvPr/>
        </p:nvSpPr>
        <p:spPr>
          <a:xfrm>
            <a:off x="6400800" y="3493008"/>
            <a:ext cx="5029200" cy="347472"/>
          </a:xfrm>
          <a:prstGeom prst="rect">
            <a:avLst/>
          </a:prstGeom>
          <a:noFill/>
          <a:ln/>
        </p:spPr>
        <p:txBody>
          <a:bodyPr wrap="square" lIns="0" tIns="0" rIns="0" bIns="0" rtlCol="0" anchor="t"/>
          <a:lstStyle/>
          <a:p>
            <a:pPr indent="0" marL="0">
              <a:buNone/>
            </a:pPr>
            <a:r>
              <a:rPr lang="en-US" sz="1400" b="1" dirty="0">
                <a:solidFill>
                  <a:srgbClr val="15191C"/>
                </a:solidFill>
              </a:rPr>
              <a:t>The rules we set ourselves</a:t>
            </a:r>
            <a:endParaRPr lang="en-US" sz="1400" dirty="0"/>
          </a:p>
        </p:txBody>
      </p:sp>
      <p:sp>
        <p:nvSpPr>
          <p:cNvPr id="23" name="card body The rules we set ourselves"/>
          <p:cNvSpPr txBox="1"/>
          <p:nvPr/>
        </p:nvSpPr>
        <p:spPr>
          <a:xfrm>
            <a:off x="6400800" y="3858768"/>
            <a:ext cx="5029200" cy="1353312"/>
          </a:xfrm>
          <a:prstGeom prst="rect">
            <a:avLst/>
          </a:prstGeom>
          <a:noFill/>
          <a:ln/>
        </p:spPr>
        <p:txBody>
          <a:bodyPr wrap="square" lIns="0" tIns="0" rIns="0" bIns="0" rtlCol="0" anchor="t"/>
          <a:lstStyle/>
          <a:p>
            <a:pPr indent="0" marL="0">
              <a:buNone/>
            </a:pPr>
            <a:r>
              <a:rPr lang="en-US" sz="1300" dirty="0">
                <a:solidFill>
                  <a:srgbClr val="4A5058"/>
                </a:solidFill>
              </a:rPr>
              <a:t>Conventional manufacturing, no printing. Same paste class and the same eight-thermocouple layout. Two test vehicles (117 and 100 cm²). Pressure drop at three boundaries. Five plates, three re-mounts, an independent repeat.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THE VERDICT, PREDICTED</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Lower on every thermal metric, one third of the pressure drop, higher in price</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3</a:t>
            </a:r>
            <a:endParaRPr lang="en-US" sz="9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4572000"/>
                <a:gridCol w="2468880"/>
                <a:gridCol w="2194560"/>
                <a:gridCol w="1828800"/>
              </a:tblGrid>
              <a:tr h="0">
                <a:tc>
                  <a:txBody>
                    <a:bodyPr/>
                    <a:lstStyle/>
                    <a:p>
                      <a:pPr indent="0" marL="0">
                        <a:buNone/>
                      </a:pPr>
                      <a:r>
                        <a:rPr lang="en-US" sz="1300" b="1" dirty="0">
                          <a:solidFill>
                            <a:srgbClr val="15191C"/>
                          </a:solidFill>
                          <a:latin typeface="+mn-lt" pitchFamily="34" charset="0"/>
                          <a:ea typeface="+mn-lt" pitchFamily="34" charset="-122"/>
                          <a:cs typeface="+mn-lt" pitchFamily="34" charset="-120"/>
                        </a:rPr>
                        <a:t>At 15 kW, 18 LPM PG25, 45 °C inlet, 117 cm²</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300" b="1" dirty="0">
                          <a:solidFill>
                            <a:srgbClr val="15191C"/>
                          </a:solidFill>
                          <a:latin typeface="+mn-lt" pitchFamily="34" charset="0"/>
                          <a:ea typeface="+mn-lt" pitchFamily="34" charset="-122"/>
                          <a:cs typeface="+mn-lt" pitchFamily="34" charset="-120"/>
                        </a:rPr>
                        <a:t>CoolIT 15 kW</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300" b="1" dirty="0">
                          <a:solidFill>
                            <a:srgbClr val="15191C"/>
                          </a:solidFill>
                          <a:latin typeface="+mn-lt" pitchFamily="34" charset="0"/>
                          <a:ea typeface="+mn-lt" pitchFamily="34" charset="-122"/>
                          <a:cs typeface="+mn-lt" pitchFamily="34" charset="-120"/>
                        </a:rPr>
                        <a:t>PRISM-15 Rev A</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300" b="1" dirty="0">
                          <a:solidFill>
                            <a:srgbClr val="15191C"/>
                          </a:solidFill>
                          <a:latin typeface="+mn-lt" pitchFamily="34" charset="0"/>
                          <a:ea typeface="+mn-lt" pitchFamily="34" charset="-122"/>
                          <a:cs typeface="+mn-lt" pitchFamily="34" charset="-120"/>
                        </a:rPr>
                        <a:t>Verdict</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r>
              <a:tr h="0">
                <a:tc>
                  <a:txBody>
                    <a:bodyPr/>
                    <a:lstStyle/>
                    <a:p>
                      <a:pPr indent="0" marL="0">
                        <a:buNone/>
                      </a:pPr>
                      <a:r>
                        <a:rPr lang="en-US" sz="1300" dirty="0">
                          <a:solidFill>
                            <a:srgbClr val="15191C"/>
                          </a:solidFill>
                          <a:latin typeface="+mn-lt" pitchFamily="34" charset="0"/>
                          <a:ea typeface="+mn-lt" pitchFamily="34" charset="-122"/>
                          <a:cs typeface="+mn-lt" pitchFamily="34" charset="-120"/>
                        </a:rPr>
                        <a:t>Average case-to-inlet, same paste class</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34.4 K measured</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31.0 K</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win, P ≈ 0.8</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5191C"/>
                          </a:solidFill>
                          <a:latin typeface="+mn-lt" pitchFamily="34" charset="0"/>
                          <a:ea typeface="+mn-lt" pitchFamily="34" charset="-122"/>
                          <a:cs typeface="+mn-lt" pitchFamily="34" charset="-120"/>
                        </a:rPr>
                        <a:t>Maximum case-to-inlet, same paste class</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44.2 K measured</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38.7 K</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win, P ≈ 0.9</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300" dirty="0">
                          <a:solidFill>
                            <a:srgbClr val="15191C"/>
                          </a:solidFill>
                          <a:latin typeface="+mn-lt" pitchFamily="34" charset="0"/>
                          <a:ea typeface="+mn-lt" pitchFamily="34" charset="-122"/>
                          <a:cs typeface="+mn-lt" pitchFamily="34" charset="-120"/>
                        </a:rPr>
                        <a:t>Average / maximum on a phase-change pad</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 32.5 / 40.3 K est.</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29.0 / 34.8 K</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win</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5191C"/>
                          </a:solidFill>
                          <a:latin typeface="+mn-lt" pitchFamily="34" charset="0"/>
                          <a:ea typeface="+mn-lt" pitchFamily="34" charset="-122"/>
                          <a:cs typeface="+mn-lt" pitchFamily="34" charset="-120"/>
                        </a:rPr>
                        <a:t>Plate pressure drop, 20 mm ports</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 22 kPa reconstructed</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7.6 kPa</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win</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300" dirty="0">
                          <a:solidFill>
                            <a:srgbClr val="15191C"/>
                          </a:solidFill>
                          <a:latin typeface="+mn-lt" pitchFamily="34" charset="0"/>
                          <a:ea typeface="+mn-lt" pitchFamily="34" charset="-122"/>
                          <a:cs typeface="+mn-lt" pitchFamily="34" charset="-120"/>
                        </a:rPr>
                        <a:t>Load at 85 °C case, paste / pad</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12.9 / 14.8 kW</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15.7 / 18.4 kW</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win</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5191C"/>
                          </a:solidFill>
                          <a:latin typeface="+mn-lt" pitchFamily="34" charset="0"/>
                          <a:ea typeface="+mn-lt" pitchFamily="34" charset="-122"/>
                          <a:cs typeface="+mn-lt" pitchFamily="34" charset="-120"/>
                        </a:rPr>
                        <a:t>Inlet allowed at 15 kW, paste / pad</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40.8 / 44.7 °C</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46.3 / 50.2 °C</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win</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300" dirty="0">
                          <a:solidFill>
                            <a:srgbClr val="15191C"/>
                          </a:solidFill>
                          <a:latin typeface="+mn-lt" pitchFamily="34" charset="0"/>
                          <a:ea typeface="+mn-lt" pitchFamily="34" charset="-122"/>
                          <a:cs typeface="+mn-lt" pitchFamily="34" charset="-120"/>
                        </a:rPr>
                        <a:t>Height at the headers / mass</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 22–28 mm / 1.2–1.6 kg est.</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20.8 mm / 1.3 kg</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parity to win</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5191C"/>
                          </a:solidFill>
                          <a:latin typeface="+mn-lt" pitchFamily="34" charset="0"/>
                          <a:ea typeface="+mn-lt" pitchFamily="34" charset="-122"/>
                          <a:cs typeface="+mn-lt" pitchFamily="34" charset="-120"/>
                        </a:rPr>
                        <a:t>Factory cost per plate at 100k per year</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 US$126</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US$165</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300" dirty="0">
                          <a:solidFill>
                            <a:srgbClr val="15191C"/>
                          </a:solidFill>
                          <a:latin typeface="+mn-lt" pitchFamily="34" charset="0"/>
                          <a:ea typeface="+mn-lt" pitchFamily="34" charset="-122"/>
                          <a:cs typeface="+mn-lt" pitchFamily="34" charset="-120"/>
                        </a:rPr>
                        <a:t>loss, +31 %</a:t>
                      </a:r>
                      <a:endParaRPr lang="en-US" sz="13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bl>
          </a:graphicData>
        </a:graphic>
      </p:graphicFrame>
      <p:sp>
        <p:nvSpPr>
          <p:cNvPr id="7" name="text"/>
          <p:cNvSpPr txBox="1"/>
          <p:nvPr/>
        </p:nvSpPr>
        <p:spPr>
          <a:xfrm>
            <a:off x="548640" y="5852160"/>
            <a:ext cx="10972800" cy="365760"/>
          </a:xfrm>
          <a:prstGeom prst="rect">
            <a:avLst/>
          </a:prstGeom>
          <a:noFill/>
          <a:ln/>
        </p:spPr>
        <p:txBody>
          <a:bodyPr wrap="square" lIns="0" tIns="0" rIns="0" bIns="0" rtlCol="0" anchor="t"/>
          <a:lstStyle/>
          <a:p>
            <a:pPr indent="0" marL="0">
              <a:buNone/>
            </a:pPr>
            <a:r>
              <a:rPr lang="en-US" sz="1000" dirty="0">
                <a:solidFill>
                  <a:srgbClr val="8F8A82"/>
                </a:solidFill>
              </a:rPr>
              <a:t>PRISM values are model predictions, ±25 % per term until tested. Probabilities include programme factors. Full scorecard: design report section 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THE MECHANISM</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Every parcel of coolant travels 7.7 mm, not 54</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4</a:t>
            </a:r>
            <a:endParaRPr lang="en-US" sz="900" dirty="0"/>
          </a:p>
        </p:txBody>
      </p:sp>
      <p:pic>
        <p:nvPicPr>
          <p:cNvPr id="6" name="Cross-section through an inlet line and an outlet line" descr="Cross-section through an inlet line and an outlet line">    </p:cNvPr>
          <p:cNvPicPr>
            <a:picLocks noChangeAspect="1"/>
          </p:cNvPicPr>
          <p:nvPr/>
        </p:nvPicPr>
        <p:blipFill>
          <a:blip r:embed="rId1"/>
          <a:srcRect l="0" r="0" t="0" b="0"/>
          <a:stretch/>
        </p:blipFill>
        <p:spPr>
          <a:xfrm>
            <a:off x="548640" y="1645920"/>
            <a:ext cx="5852160" cy="3566160"/>
          </a:xfrm>
          <a:prstGeom prst="rect">
            <a:avLst/>
          </a:prstGeom>
        </p:spPr>
      </p:pic>
      <p:sp>
        <p:nvSpPr>
          <p:cNvPr id="7" name="card 1. Fifteen metered lines"/>
          <p:cNvSpPr/>
          <p:nvPr/>
        </p:nvSpPr>
        <p:spPr>
          <a:xfrm>
            <a:off x="6675120" y="1645920"/>
            <a:ext cx="4937760" cy="1325880"/>
          </a:xfrm>
          <a:prstGeom prst="roundRect">
            <a:avLst>
              <a:gd name="adj" fmla="val 8276"/>
            </a:avLst>
          </a:prstGeom>
          <a:solidFill>
            <a:srgbClr val="F7F5F1"/>
          </a:solidFill>
          <a:ln w="9525">
            <a:solidFill>
              <a:srgbClr val="DDD8CF"/>
            </a:solidFill>
            <a:prstDash val="solid"/>
          </a:ln>
        </p:spPr>
      </p:sp>
      <p:sp>
        <p:nvSpPr>
          <p:cNvPr id="8" name="card head 1. Fifteen metered lines"/>
          <p:cNvSpPr txBox="1"/>
          <p:nvPr/>
        </p:nvSpPr>
        <p:spPr>
          <a:xfrm>
            <a:off x="6858000" y="1755648"/>
            <a:ext cx="4572000" cy="347472"/>
          </a:xfrm>
          <a:prstGeom prst="rect">
            <a:avLst/>
          </a:prstGeom>
          <a:noFill/>
          <a:ln/>
        </p:spPr>
        <p:txBody>
          <a:bodyPr wrap="square" lIns="0" tIns="0" rIns="0" bIns="0" rtlCol="0" anchor="t"/>
          <a:lstStyle/>
          <a:p>
            <a:pPr indent="0" marL="0">
              <a:buNone/>
            </a:pPr>
            <a:r>
              <a:rPr lang="en-US" sz="1400" b="1" dirty="0">
                <a:solidFill>
                  <a:srgbClr val="15191C"/>
                </a:solidFill>
              </a:rPr>
              <a:t>1. Fifteen metered lines</a:t>
            </a:r>
            <a:endParaRPr lang="en-US" sz="1400" dirty="0"/>
          </a:p>
        </p:txBody>
      </p:sp>
      <p:sp>
        <p:nvSpPr>
          <p:cNvPr id="9" name="card body 1. Fifteen metered lines"/>
          <p:cNvSpPr txBox="1"/>
          <p:nvPr/>
        </p:nvSpPr>
        <p:spPr>
          <a:xfrm>
            <a:off x="6858000" y="2121408"/>
            <a:ext cx="4572000" cy="758952"/>
          </a:xfrm>
          <a:prstGeom prst="rect">
            <a:avLst/>
          </a:prstGeom>
          <a:noFill/>
          <a:ln/>
        </p:spPr>
        <p:txBody>
          <a:bodyPr wrap="square" lIns="0" tIns="0" rIns="0" bIns="0" rtlCol="0" anchor="t"/>
          <a:lstStyle/>
          <a:p>
            <a:pPr indent="0" marL="0">
              <a:buNone/>
            </a:pPr>
            <a:r>
              <a:rPr lang="en-US" sz="1100" dirty="0">
                <a:solidFill>
                  <a:srgbClr val="4A5058"/>
                </a:solidFill>
              </a:rPr>
              <a:t>A separate 0.4 mm web of 756 graded orifices feeds each line through a recess onto a grate lip. Flow is uniform within ±2.2 % at every flow, because meter and plenum both scale with velocity squared.</a:t>
            </a:r>
            <a:endParaRPr lang="en-US" sz="1100" dirty="0"/>
          </a:p>
        </p:txBody>
      </p:sp>
      <p:sp>
        <p:nvSpPr>
          <p:cNvPr id="10" name="card 2. Short cells, fine fins"/>
          <p:cNvSpPr/>
          <p:nvPr/>
        </p:nvSpPr>
        <p:spPr>
          <a:xfrm>
            <a:off x="6675120" y="3108960"/>
            <a:ext cx="4937760" cy="1325880"/>
          </a:xfrm>
          <a:prstGeom prst="roundRect">
            <a:avLst>
              <a:gd name="adj" fmla="val 8276"/>
            </a:avLst>
          </a:prstGeom>
          <a:solidFill>
            <a:srgbClr val="F7F5F1"/>
          </a:solidFill>
          <a:ln w="9525">
            <a:solidFill>
              <a:srgbClr val="DDD8CF"/>
            </a:solidFill>
            <a:prstDash val="solid"/>
          </a:ln>
        </p:spPr>
      </p:sp>
      <p:sp>
        <p:nvSpPr>
          <p:cNvPr id="11" name="card head 2. Short cells, fine fins"/>
          <p:cNvSpPr txBox="1"/>
          <p:nvPr/>
        </p:nvSpPr>
        <p:spPr>
          <a:xfrm>
            <a:off x="6858000" y="3218688"/>
            <a:ext cx="4572000" cy="347472"/>
          </a:xfrm>
          <a:prstGeom prst="rect">
            <a:avLst/>
          </a:prstGeom>
          <a:noFill/>
          <a:ln/>
        </p:spPr>
        <p:txBody>
          <a:bodyPr wrap="square" lIns="0" tIns="0" rIns="0" bIns="0" rtlCol="0" anchor="t"/>
          <a:lstStyle/>
          <a:p>
            <a:pPr indent="0" marL="0">
              <a:buNone/>
            </a:pPr>
            <a:r>
              <a:rPr lang="en-US" sz="1400" b="1" dirty="0">
                <a:solidFill>
                  <a:srgbClr val="15191C"/>
                </a:solidFill>
              </a:rPr>
              <a:t>2. Short cells, fine fins</a:t>
            </a:r>
            <a:endParaRPr lang="en-US" sz="1400" dirty="0"/>
          </a:p>
        </p:txBody>
      </p:sp>
      <p:sp>
        <p:nvSpPr>
          <p:cNvPr id="12" name="card body 2. Short cells, fine fins"/>
          <p:cNvSpPr txBox="1"/>
          <p:nvPr/>
        </p:nvSpPr>
        <p:spPr>
          <a:xfrm>
            <a:off x="6858000" y="3584448"/>
            <a:ext cx="4572000" cy="758952"/>
          </a:xfrm>
          <a:prstGeom prst="rect">
            <a:avLst/>
          </a:prstGeom>
          <a:noFill/>
          <a:ln/>
        </p:spPr>
        <p:txBody>
          <a:bodyPr wrap="square" lIns="0" tIns="0" rIns="0" bIns="0" rtlCol="0" anchor="t"/>
          <a:lstStyle/>
          <a:p>
            <a:pPr indent="0" marL="0">
              <a:buNone/>
            </a:pPr>
            <a:r>
              <a:rPr lang="en-US" sz="1100" dirty="0">
                <a:solidFill>
                  <a:srgbClr val="4A5058"/>
                </a:solidFill>
              </a:rPr>
              <a:t>0.15 mm fins at 0.15 mm gaps, 2.0 mm tall, kerfed at each line. Each segment starts at inlet temperature; fins are sized for heat transfer and fouling, not for pressure drop.</a:t>
            </a:r>
            <a:endParaRPr lang="en-US" sz="1100" dirty="0"/>
          </a:p>
        </p:txBody>
      </p:sp>
      <p:sp>
        <p:nvSpPr>
          <p:cNvPr id="13" name="card 3. Tied fin tips"/>
          <p:cNvSpPr/>
          <p:nvPr/>
        </p:nvSpPr>
        <p:spPr>
          <a:xfrm>
            <a:off x="6675120" y="4572000"/>
            <a:ext cx="4937760" cy="1325880"/>
          </a:xfrm>
          <a:prstGeom prst="roundRect">
            <a:avLst>
              <a:gd name="adj" fmla="val 8276"/>
            </a:avLst>
          </a:prstGeom>
          <a:solidFill>
            <a:srgbClr val="F7F5F1"/>
          </a:solidFill>
          <a:ln w="9525">
            <a:solidFill>
              <a:srgbClr val="DDD8CF"/>
            </a:solidFill>
            <a:prstDash val="solid"/>
          </a:ln>
        </p:spPr>
      </p:sp>
      <p:sp>
        <p:nvSpPr>
          <p:cNvPr id="14" name="card head 3. Tied fin tips"/>
          <p:cNvSpPr txBox="1"/>
          <p:nvPr/>
        </p:nvSpPr>
        <p:spPr>
          <a:xfrm>
            <a:off x="6858000" y="4681728"/>
            <a:ext cx="4572000" cy="347472"/>
          </a:xfrm>
          <a:prstGeom prst="rect">
            <a:avLst/>
          </a:prstGeom>
          <a:noFill/>
          <a:ln/>
        </p:spPr>
        <p:txBody>
          <a:bodyPr wrap="square" lIns="0" tIns="0" rIns="0" bIns="0" rtlCol="0" anchor="t"/>
          <a:lstStyle/>
          <a:p>
            <a:pPr indent="0" marL="0">
              <a:buNone/>
            </a:pPr>
            <a:r>
              <a:rPr lang="en-US" sz="1400" b="1" dirty="0">
                <a:solidFill>
                  <a:srgbClr val="15191C"/>
                </a:solidFill>
              </a:rPr>
              <a:t>3. Tied fin tips</a:t>
            </a:r>
            <a:endParaRPr lang="en-US" sz="1400" dirty="0"/>
          </a:p>
        </p:txBody>
      </p:sp>
      <p:sp>
        <p:nvSpPr>
          <p:cNvPr id="15" name="card body 3. Tied fin tips"/>
          <p:cNvSpPr txBox="1"/>
          <p:nvPr/>
        </p:nvSpPr>
        <p:spPr>
          <a:xfrm>
            <a:off x="6858000" y="5047488"/>
            <a:ext cx="4572000" cy="758952"/>
          </a:xfrm>
          <a:prstGeom prst="rect">
            <a:avLst/>
          </a:prstGeom>
          <a:noFill/>
          <a:ln/>
        </p:spPr>
        <p:txBody>
          <a:bodyPr wrap="square" lIns="0" tIns="0" rIns="0" bIns="0" rtlCol="0" anchor="t"/>
          <a:lstStyle/>
          <a:p>
            <a:pPr indent="0" marL="0">
              <a:buNone/>
            </a:pPr>
            <a:r>
              <a:rPr lang="en-US" sz="1100" dirty="0">
                <a:solidFill>
                  <a:srgbClr val="4A5058"/>
                </a:solidFill>
              </a:rPr>
              <a:t>Every fin tip is brazed to the grate. The 0.85 mm base sees pressure only between ties 0.3 mm apart, so it carries 1 MPa with zero bow and holds a pad or liquid metal at its rated resistance.</a:t>
            </a:r>
            <a:endParaRPr lang="en-US" sz="1100" dirty="0"/>
          </a:p>
        </p:txBody>
      </p:sp>
      <p:sp>
        <p:nvSpPr>
          <p:cNvPr id="16" name="text"/>
          <p:cNvSpPr txBox="1"/>
          <p:nvPr/>
        </p:nvSpPr>
        <p:spPr>
          <a:xfrm>
            <a:off x="548640" y="5349240"/>
            <a:ext cx="5852160" cy="731520"/>
          </a:xfrm>
          <a:prstGeom prst="rect">
            <a:avLst/>
          </a:prstGeom>
          <a:noFill/>
          <a:ln/>
        </p:spPr>
        <p:txBody>
          <a:bodyPr wrap="square" lIns="0" tIns="0" rIns="0" bIns="0" rtlCol="0" anchor="t"/>
          <a:lstStyle/>
          <a:p>
            <a:pPr indent="0" marL="0">
              <a:buNone/>
            </a:pPr>
            <a:r>
              <a:rPr lang="en-US" sz="1000" dirty="0">
                <a:solidFill>
                  <a:srgbClr val="8F8A82"/>
                </a:solidFill>
              </a:rPr>
              <a:t>Section from the CAD assembly across the lines at y = 10 mm. Split-flow plates send coolant 54 mm along coarse 0.2 mm fins; the far edge runs on coolant already 12.7 K warmer.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THE STACK</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Fourteen copper parts, one vacuum braze cycle, one external seam</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5</a:t>
            </a:r>
            <a:endParaRPr lang="en-US" sz="900" dirty="0"/>
          </a:p>
        </p:txBody>
      </p:sp>
      <p:pic>
        <p:nvPicPr>
          <p:cNvPr id="6" name="Exploded view of the plate" descr="Exploded view of the plate">    </p:cNvPr>
          <p:cNvPicPr>
            <a:picLocks noChangeAspect="1"/>
          </p:cNvPicPr>
          <p:nvPr/>
        </p:nvPicPr>
        <p:blipFill>
          <a:blip r:embed="rId1"/>
          <a:srcRect l="0" r="0" t="0" b="0"/>
          <a:stretch/>
        </p:blipFill>
        <p:spPr>
          <a:xfrm>
            <a:off x="548640" y="1645920"/>
            <a:ext cx="4754880" cy="4023360"/>
          </a:xfrm>
          <a:prstGeom prst="rect">
            <a:avLst/>
          </a:prstGeom>
        </p:spPr>
      </p:pic>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577840" y="1645920"/>
          <a:ext cx="6035040" cy="914400"/>
        </p:xfrm>
        <a:graphic>
          <a:graphicData uri="http://schemas.openxmlformats.org/drawingml/2006/table">
            <a:tbl>
              <a:tblPr/>
              <a:tblGrid>
                <a:gridCol w="1280160"/>
                <a:gridCol w="3840480"/>
                <a:gridCol w="914400"/>
              </a:tblGrid>
              <a:tr h="0">
                <a:tc>
                  <a:txBody>
                    <a:bodyPr/>
                    <a:lstStyle/>
                    <a:p>
                      <a:pPr indent="0" marL="0">
                        <a:buNone/>
                      </a:pPr>
                      <a:r>
                        <a:rPr lang="en-US" sz="1000" b="1" dirty="0">
                          <a:solidFill>
                            <a:srgbClr val="15191C"/>
                          </a:solidFill>
                          <a:latin typeface="+mn-lt" pitchFamily="34" charset="0"/>
                          <a:ea typeface="+mn-lt" pitchFamily="34" charset="-122"/>
                          <a:cs typeface="+mn-lt" pitchFamily="34" charset="-120"/>
                        </a:rPr>
                        <a:t>Layer, top down</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What it is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z, mm</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Port bosses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2 × 20 mm bore, machined OFE, piloted in cap pockets; 50 µm guard cup under the inlet dome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19.8–29.5</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Cap</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drawn 1.0 mm OFE; 2 inlet + 4 outlet arches 10 × 7.7, 2 cross domes with a spine, skirt lapped to the rim</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12.1–20.8</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Separator</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1.8 mm plate; 14 inlet and 32 outlet windows 5 × 8</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10.3–12.1</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Plenum</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one 0.8 mm sheet folded into 15 channels 6.9 × 5.0 mm; 2 end frames; 14 bleed holes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4.5–10.3</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Meter web</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0.40 mm strip, 756 laser-pierced orifices, graded</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4.1–4.5</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Land plate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1.30 mm; 15 windows, 7 recesses with lips; brazed to every fin tip</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2.8–4.1</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Core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125 × 125 skived OFE: 360 fins, 15 kerfs, 0.85 mm base, rim, 8 ears, 2 tap bosses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0–2.8</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bl>
          </a:graphicData>
        </a:graphic>
      </p:graphicFrame>
      <p:sp>
        <p:nvSpPr>
          <p:cNvPr id="8" name="text"/>
          <p:cNvSpPr txBox="1"/>
          <p:nvPr/>
        </p:nvSpPr>
        <p:spPr>
          <a:xfrm>
            <a:off x="548640" y="5852160"/>
            <a:ext cx="10972800" cy="365760"/>
          </a:xfrm>
          <a:prstGeom prst="rect">
            <a:avLst/>
          </a:prstGeom>
          <a:noFill/>
          <a:ln/>
        </p:spPr>
        <p:txBody>
          <a:bodyPr wrap="square" lIns="0" tIns="0" rIns="0" bIns="0" rtlCol="0" anchor="t"/>
          <a:lstStyle/>
          <a:p>
            <a:pPr indent="0" marL="0">
              <a:buNone/>
            </a:pPr>
            <a:r>
              <a:rPr lang="en-US" sz="1000" dirty="0">
                <a:solidFill>
                  <a:srgbClr val="8F8A82"/>
                </a:solidFill>
              </a:rPr>
              <a:t>Height 20.8 mm at the arches, 29.5 mm at the bosses · plate mass 1.15 kg (CAD) · only the skirt-to-rim lap can leak outward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LAYER 1 · CORE</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A skived field the ties let us run at 0.85 mm</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6</a:t>
            </a:r>
            <a:endParaRPr lang="en-US" sz="900" dirty="0"/>
          </a:p>
        </p:txBody>
      </p:sp>
      <p:pic>
        <p:nvPicPr>
          <p:cNvPr id="6" name="Core with fin field, kerfs, rim and ears" descr="Core with fin field, kerfs, rim and ears">    </p:cNvPr>
          <p:cNvPicPr>
            <a:picLocks noChangeAspect="1"/>
          </p:cNvPicPr>
          <p:nvPr/>
        </p:nvPicPr>
        <p:blipFill>
          <a:blip r:embed="rId1"/>
          <a:srcRect l="0" r="0" t="0" b="0"/>
          <a:stretch/>
        </p:blipFill>
        <p:spPr>
          <a:xfrm>
            <a:off x="548640" y="1645920"/>
            <a:ext cx="4206240" cy="2011680"/>
          </a:xfrm>
          <a:prstGeom prst="rect">
            <a:avLst/>
          </a:prstGeom>
        </p:spPr>
      </p:pic>
      <p:pic>
        <p:nvPicPr>
          <p:cNvPr id="7" name="Fin close-up" descr="Fin close-up">    </p:cNvPr>
          <p:cNvPicPr>
            <a:picLocks noChangeAspect="1"/>
          </p:cNvPicPr>
          <p:nvPr/>
        </p:nvPicPr>
        <p:blipFill>
          <a:blip r:embed="rId2"/>
          <a:srcRect l="0" r="0" t="0" b="0"/>
          <a:stretch/>
        </p:blipFill>
        <p:spPr>
          <a:xfrm>
            <a:off x="548640" y="3794760"/>
            <a:ext cx="4206240" cy="2011680"/>
          </a:xfrm>
          <a:prstGeom prst="rect">
            <a:avLst/>
          </a:prstGeom>
        </p:spPr>
      </p:pic>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029200" y="1645920"/>
          <a:ext cx="6583680" cy="914400"/>
        </p:xfrm>
        <a:graphic>
          <a:graphicData uri="http://schemas.openxmlformats.org/drawingml/2006/table">
            <a:tbl>
              <a:tblPr/>
              <a:tblGrid>
                <a:gridCol w="1645920"/>
                <a:gridCol w="3291840"/>
                <a:gridCol w="1645920"/>
              </a:tblGrid>
              <a:tr h="0">
                <a:tc>
                  <a:txBody>
                    <a:bodyPr/>
                    <a:lstStyle/>
                    <a:p>
                      <a:pPr indent="0" marL="0">
                        <a:buNone/>
                      </a:pPr>
                      <a:r>
                        <a:rPr lang="en-US" sz="1000" b="1" dirty="0">
                          <a:solidFill>
                            <a:srgbClr val="15191C"/>
                          </a:solidFill>
                          <a:latin typeface="+mn-lt" pitchFamily="34" charset="0"/>
                          <a:ea typeface="+mn-lt" pitchFamily="34" charset="-122"/>
                          <a:cs typeface="+mn-lt" pitchFamily="34" charset="-120"/>
                        </a:rPr>
                        <a:t>Feature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Value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Tolerance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Material</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OFE copper C10100, 4.3 mm H02 blank</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O₂ ≤ 5 ppm</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Fin field</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108 × 108; 360 fins 0.15 thick, 0.15 gap, 2.0 tall</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t ±0.02, pitch ±0.005</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Kerfs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15 lines at 7.7143 pitch, 0.30 wide, gang-sawn in potted fins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w +0.05/−0, x ±0.03</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Base under the field</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0.85 (0.80 min), fly-cut after braze, ultrasonic gauge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±0.05; 1.0 fallback</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Tip plane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fins and rim coplanar at z 2.80 for the braze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flat ≤ 0.020</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Die face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flatness 0.02 over the field, Ra 0.8, concave 0–10 µm only</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parallel 0.03</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Rim, land, ears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rim 121.4 carries the grate and the cap skirt; land z 1.5; 8 ears, holes 4.5</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±0.05 / ±0.1</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Instrumentation</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2 tap bosses read fin-field dP for the fouling signature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1.0 mm holes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bl>
          </a:graphicData>
        </a:graphic>
      </p:graphicFrame>
      <p:sp>
        <p:nvSpPr>
          <p:cNvPr id="9" name="text"/>
          <p:cNvSpPr txBox="1"/>
          <p:nvPr/>
        </p:nvSpPr>
        <p:spPr>
          <a:xfrm>
            <a:off x="548640" y="5943600"/>
            <a:ext cx="10972800" cy="457200"/>
          </a:xfrm>
          <a:prstGeom prst="rect">
            <a:avLst/>
          </a:prstGeom>
          <a:noFill/>
          <a:ln/>
        </p:spPr>
        <p:txBody>
          <a:bodyPr wrap="square" lIns="0" tIns="0" rIns="0" bIns="0" rtlCol="0" anchor="t"/>
          <a:lstStyle/>
          <a:p>
            <a:pPr indent="0" marL="0">
              <a:buNone/>
            </a:pPr>
            <a:r>
              <a:rPr lang="en-US" sz="1000" dirty="0">
                <a:solidFill>
                  <a:srgbClr val="8F8A82"/>
                </a:solidFill>
              </a:rPr>
              <a:t>Base term 2.79 K at 0.85 mm; 2.63 K at 0.80; 3.29 K at the 1.0 mm fallback. The thin base is gated on experiment E1 proving that one unbonded land strip can be seen at proof.</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LAYER 2 · GRATE</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Two laminations: the lands that tie, the web that meters</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7</a:t>
            </a:r>
            <a:endParaRPr lang="en-US" sz="900" dirty="0"/>
          </a:p>
        </p:txBody>
      </p:sp>
      <p:pic>
        <p:nvPicPr>
          <p:cNvPr id="6" name="Grate laminations" descr="Grate laminations">    </p:cNvPr>
          <p:cNvPicPr>
            <a:picLocks noChangeAspect="1"/>
          </p:cNvPicPr>
          <p:nvPr/>
        </p:nvPicPr>
        <p:blipFill>
          <a:blip r:embed="rId1"/>
          <a:srcRect l="0" r="0" t="0" b="0"/>
          <a:stretch/>
        </p:blipFill>
        <p:spPr>
          <a:xfrm>
            <a:off x="548640" y="1645920"/>
            <a:ext cx="4937760" cy="3383280"/>
          </a:xfrm>
          <a:prstGeom prst="rect">
            <a:avLst/>
          </a:prstGeom>
        </p:spPr>
      </p:pic>
      <p:sp>
        <p:nvSpPr>
          <p:cNvPr id="7" name="card Land plate, 1.30 mm"/>
          <p:cNvSpPr/>
          <p:nvPr/>
        </p:nvSpPr>
        <p:spPr>
          <a:xfrm>
            <a:off x="5760720" y="1645920"/>
            <a:ext cx="5852160" cy="1600200"/>
          </a:xfrm>
          <a:prstGeom prst="roundRect">
            <a:avLst>
              <a:gd name="adj" fmla="val 6857"/>
            </a:avLst>
          </a:prstGeom>
          <a:solidFill>
            <a:srgbClr val="F7F5F1"/>
          </a:solidFill>
          <a:ln w="9525">
            <a:solidFill>
              <a:srgbClr val="DDD8CF"/>
            </a:solidFill>
            <a:prstDash val="solid"/>
          </a:ln>
        </p:spPr>
      </p:sp>
      <p:sp>
        <p:nvSpPr>
          <p:cNvPr id="8" name="card head Land plate, 1.30 mm"/>
          <p:cNvSpPr txBox="1"/>
          <p:nvPr/>
        </p:nvSpPr>
        <p:spPr>
          <a:xfrm>
            <a:off x="5943600" y="1755648"/>
            <a:ext cx="5486400" cy="347472"/>
          </a:xfrm>
          <a:prstGeom prst="rect">
            <a:avLst/>
          </a:prstGeom>
          <a:noFill/>
          <a:ln/>
        </p:spPr>
        <p:txBody>
          <a:bodyPr wrap="square" lIns="0" tIns="0" rIns="0" bIns="0" rtlCol="0" anchor="t"/>
          <a:lstStyle/>
          <a:p>
            <a:pPr indent="0" marL="0">
              <a:buNone/>
            </a:pPr>
            <a:r>
              <a:rPr lang="en-US" sz="1400" b="1" dirty="0">
                <a:solidFill>
                  <a:srgbClr val="15191C"/>
                </a:solidFill>
              </a:rPr>
              <a:t>Land plate, 1.30 mm</a:t>
            </a:r>
            <a:endParaRPr lang="en-US" sz="1400" dirty="0"/>
          </a:p>
        </p:txBody>
      </p:sp>
      <p:sp>
        <p:nvSpPr>
          <p:cNvPr id="9" name="card body Land plate, 1.30 mm"/>
          <p:cNvSpPr txBox="1"/>
          <p:nvPr/>
        </p:nvSpPr>
        <p:spPr>
          <a:xfrm>
            <a:off x="5943600" y="2121408"/>
            <a:ext cx="5486400" cy="1033272"/>
          </a:xfrm>
          <a:prstGeom prst="rect">
            <a:avLst/>
          </a:prstGeom>
          <a:noFill/>
          <a:ln/>
        </p:spPr>
        <p:txBody>
          <a:bodyPr wrap="square" lIns="0" tIns="0" rIns="0" bIns="0" rtlCol="0" anchor="t"/>
          <a:lstStyle/>
          <a:p>
            <a:pPr indent="0" marL="0">
              <a:buNone/>
            </a:pPr>
            <a:r>
              <a:rPr lang="en-US" sz="1100" dirty="0">
                <a:solidFill>
                  <a:srgbClr val="4A5058"/>
                </a:solidFill>
              </a:rPr>
              <a:t>A 1.2 mm window over every kerf; a 2.7 × 0.8 mm recess on the seven inlet lines so the jet lands on a 0.75 mm lip, never on a fin. Continuous lands brazed to the fin tips over at least 70 % of their length. Laser-scribed capillary-break grooves keep filler out of the windows.</a:t>
            </a:r>
            <a:endParaRPr lang="en-US" sz="1100" dirty="0"/>
          </a:p>
        </p:txBody>
      </p:sp>
      <p:sp>
        <p:nvSpPr>
          <p:cNvPr id="10" name="card Meter web, 0.40 mm"/>
          <p:cNvSpPr/>
          <p:nvPr/>
        </p:nvSpPr>
        <p:spPr>
          <a:xfrm>
            <a:off x="5760720" y="3383280"/>
            <a:ext cx="5852160" cy="1645920"/>
          </a:xfrm>
          <a:prstGeom prst="roundRect">
            <a:avLst>
              <a:gd name="adj" fmla="val 6667"/>
            </a:avLst>
          </a:prstGeom>
          <a:solidFill>
            <a:srgbClr val="F7F5F1"/>
          </a:solidFill>
          <a:ln w="9525">
            <a:solidFill>
              <a:srgbClr val="DDD8CF"/>
            </a:solidFill>
            <a:prstDash val="solid"/>
          </a:ln>
        </p:spPr>
      </p:sp>
      <p:sp>
        <p:nvSpPr>
          <p:cNvPr id="11" name="card head Meter web, 0.40 mm"/>
          <p:cNvSpPr txBox="1"/>
          <p:nvPr/>
        </p:nvSpPr>
        <p:spPr>
          <a:xfrm>
            <a:off x="5943600" y="3493008"/>
            <a:ext cx="5486400" cy="347472"/>
          </a:xfrm>
          <a:prstGeom prst="rect">
            <a:avLst/>
          </a:prstGeom>
          <a:noFill/>
          <a:ln/>
        </p:spPr>
        <p:txBody>
          <a:bodyPr wrap="square" lIns="0" tIns="0" rIns="0" bIns="0" rtlCol="0" anchor="t"/>
          <a:lstStyle/>
          <a:p>
            <a:pPr indent="0" marL="0">
              <a:buNone/>
            </a:pPr>
            <a:r>
              <a:rPr lang="en-US" sz="1400" b="1" dirty="0">
                <a:solidFill>
                  <a:srgbClr val="15191C"/>
                </a:solidFill>
              </a:rPr>
              <a:t>Meter web, 0.40 mm</a:t>
            </a:r>
            <a:endParaRPr lang="en-US" sz="1400" dirty="0"/>
          </a:p>
        </p:txBody>
      </p:sp>
      <p:sp>
        <p:nvSpPr>
          <p:cNvPr id="12" name="card body Meter web, 0.40 mm"/>
          <p:cNvSpPr txBox="1"/>
          <p:nvPr/>
        </p:nvSpPr>
        <p:spPr>
          <a:xfrm>
            <a:off x="5943600" y="3858768"/>
            <a:ext cx="5486400" cy="1078992"/>
          </a:xfrm>
          <a:prstGeom prst="rect">
            <a:avLst/>
          </a:prstGeom>
          <a:noFill/>
          <a:ln/>
        </p:spPr>
        <p:txBody>
          <a:bodyPr wrap="square" lIns="0" tIns="0" rIns="0" bIns="0" rtlCol="0" anchor="t"/>
          <a:lstStyle/>
          <a:p>
            <a:pPr indent="0" marL="0">
              <a:buNone/>
            </a:pPr>
            <a:r>
              <a:rPr lang="en-US" sz="1100" dirty="0">
                <a:solidFill>
                  <a:srgbClr val="4A5058"/>
                </a:solidFill>
              </a:rPr>
              <a:t>378 inlet orifices, 0.50 × 0.99–1.12 mm in five size steps, alternating ±1.0 mm off the line; 378 outlet-row holes that balance the two segments beside each line. 2.31 kPa at 1.54 m/s; discharge coefficient 0.72 assumed, measured on coupons in E2. Laser-pierced, electropolished, 100 % backlit vision.</a:t>
            </a:r>
            <a:endParaRPr lang="en-US" sz="1100" dirty="0"/>
          </a:p>
        </p:txBody>
      </p:sp>
      <p:sp>
        <p:nvSpPr>
          <p:cNvPr id="13" name="tile per-orifice flow, 9 to 36 LPM"/>
          <p:cNvSpPr/>
          <p:nvPr/>
        </p:nvSpPr>
        <p:spPr>
          <a:xfrm>
            <a:off x="5760720" y="5212080"/>
            <a:ext cx="2834640" cy="1005840"/>
          </a:xfrm>
          <a:prstGeom prst="roundRect">
            <a:avLst>
              <a:gd name="adj" fmla="val 10909"/>
            </a:avLst>
          </a:prstGeom>
          <a:solidFill>
            <a:srgbClr val="15191C"/>
          </a:solidFill>
          <a:ln w="9525">
            <a:solidFill>
              <a:srgbClr val="15191C"/>
            </a:solidFill>
            <a:prstDash val="solid"/>
          </a:ln>
        </p:spPr>
      </p:sp>
      <p:sp>
        <p:nvSpPr>
          <p:cNvPr id="14" name="tile value per-orifice flow, 9 to 36 LPM"/>
          <p:cNvSpPr txBox="1"/>
          <p:nvPr/>
        </p:nvSpPr>
        <p:spPr>
          <a:xfrm>
            <a:off x="5943600" y="5321808"/>
            <a:ext cx="2468880" cy="553212"/>
          </a:xfrm>
          <a:prstGeom prst="rect">
            <a:avLst/>
          </a:prstGeom>
          <a:noFill/>
          <a:ln/>
        </p:spPr>
        <p:txBody>
          <a:bodyPr wrap="square" lIns="0" tIns="0" rIns="0" bIns="0" rtlCol="0" anchor="ctr"/>
          <a:lstStyle/>
          <a:p>
            <a:pPr indent="0" marL="0">
              <a:buNone/>
            </a:pPr>
            <a:r>
              <a:rPr lang="en-US" sz="2400" b="1" dirty="0">
                <a:solidFill>
                  <a:srgbClr val="F4F1EC"/>
                </a:solidFill>
              </a:rPr>
              <a:t>±2.2 %</a:t>
            </a:r>
            <a:endParaRPr lang="en-US" sz="2400" dirty="0"/>
          </a:p>
        </p:txBody>
      </p:sp>
      <p:sp>
        <p:nvSpPr>
          <p:cNvPr id="15" name="tile label per-orifice flow, 9 to 36 LPM"/>
          <p:cNvSpPr txBox="1"/>
          <p:nvPr/>
        </p:nvSpPr>
        <p:spPr>
          <a:xfrm>
            <a:off x="5943600" y="5815584"/>
            <a:ext cx="2468880" cy="382219"/>
          </a:xfrm>
          <a:prstGeom prst="rect">
            <a:avLst/>
          </a:prstGeom>
          <a:noFill/>
          <a:ln/>
        </p:spPr>
        <p:txBody>
          <a:bodyPr wrap="square" lIns="0" tIns="0" rIns="0" bIns="0" rtlCol="0" anchor="t"/>
          <a:lstStyle/>
          <a:p>
            <a:pPr indent="0" marL="0">
              <a:buNone/>
            </a:pPr>
            <a:r>
              <a:rPr lang="en-US" sz="1100" dirty="0">
                <a:solidFill>
                  <a:srgbClr val="C9C4BB"/>
                </a:solidFill>
              </a:rPr>
              <a:t>per-orifice flow, 9 to 36 LPM</a:t>
            </a:r>
            <a:endParaRPr lang="en-US" sz="1100" dirty="0"/>
          </a:p>
        </p:txBody>
      </p:sp>
      <p:sp>
        <p:nvSpPr>
          <p:cNvPr id="16" name="tile segment max/min at 18 LPM"/>
          <p:cNvSpPr/>
          <p:nvPr/>
        </p:nvSpPr>
        <p:spPr>
          <a:xfrm>
            <a:off x="8778240" y="5212080"/>
            <a:ext cx="2834640" cy="1005840"/>
          </a:xfrm>
          <a:prstGeom prst="roundRect">
            <a:avLst>
              <a:gd name="adj" fmla="val 10909"/>
            </a:avLst>
          </a:prstGeom>
          <a:solidFill>
            <a:srgbClr val="15191C"/>
          </a:solidFill>
          <a:ln w="9525">
            <a:solidFill>
              <a:srgbClr val="15191C"/>
            </a:solidFill>
            <a:prstDash val="solid"/>
          </a:ln>
        </p:spPr>
      </p:sp>
      <p:sp>
        <p:nvSpPr>
          <p:cNvPr id="17" name="tile value segment max/min at 18 LPM"/>
          <p:cNvSpPr txBox="1"/>
          <p:nvPr/>
        </p:nvSpPr>
        <p:spPr>
          <a:xfrm>
            <a:off x="8961120" y="5321808"/>
            <a:ext cx="2468880" cy="553212"/>
          </a:xfrm>
          <a:prstGeom prst="rect">
            <a:avLst/>
          </a:prstGeom>
          <a:noFill/>
          <a:ln/>
        </p:spPr>
        <p:txBody>
          <a:bodyPr wrap="square" lIns="0" tIns="0" rIns="0" bIns="0" rtlCol="0" anchor="ctr"/>
          <a:lstStyle/>
          <a:p>
            <a:pPr indent="0" marL="0">
              <a:buNone/>
            </a:pPr>
            <a:r>
              <a:rPr lang="en-US" sz="2400" b="1" dirty="0">
                <a:solidFill>
                  <a:srgbClr val="F4F1EC"/>
                </a:solidFill>
              </a:rPr>
              <a:t>1.06</a:t>
            </a:r>
            <a:endParaRPr lang="en-US" sz="2400" dirty="0"/>
          </a:p>
        </p:txBody>
      </p:sp>
      <p:sp>
        <p:nvSpPr>
          <p:cNvPr id="18" name="tile label segment max/min at 18 LPM"/>
          <p:cNvSpPr txBox="1"/>
          <p:nvPr/>
        </p:nvSpPr>
        <p:spPr>
          <a:xfrm>
            <a:off x="8961120" y="5815584"/>
            <a:ext cx="2468880" cy="382219"/>
          </a:xfrm>
          <a:prstGeom prst="rect">
            <a:avLst/>
          </a:prstGeom>
          <a:noFill/>
          <a:ln/>
        </p:spPr>
        <p:txBody>
          <a:bodyPr wrap="square" lIns="0" tIns="0" rIns="0" bIns="0" rtlCol="0" anchor="t"/>
          <a:lstStyle/>
          <a:p>
            <a:pPr indent="0" marL="0">
              <a:buNone/>
            </a:pPr>
            <a:r>
              <a:rPr lang="en-US" sz="1100" dirty="0">
                <a:solidFill>
                  <a:srgbClr val="C9C4BB"/>
                </a:solidFill>
              </a:rPr>
              <a:t>segment max/min at 18 LPM</a:t>
            </a:r>
            <a:endParaRPr lang="en-US" sz="1100" dirty="0"/>
          </a:p>
        </p:txBody>
      </p:sp>
      <p:sp>
        <p:nvSpPr>
          <p:cNvPr id="19" name="text"/>
          <p:cNvSpPr txBox="1"/>
          <p:nvPr/>
        </p:nvSpPr>
        <p:spPr>
          <a:xfrm>
            <a:off x="548640" y="5212080"/>
            <a:ext cx="4937760" cy="822960"/>
          </a:xfrm>
          <a:prstGeom prst="rect">
            <a:avLst/>
          </a:prstGeom>
          <a:noFill/>
          <a:ln/>
        </p:spPr>
        <p:txBody>
          <a:bodyPr wrap="square" lIns="0" tIns="0" rIns="0" bIns="0" rtlCol="0" anchor="t"/>
          <a:lstStyle/>
          <a:p>
            <a:pPr indent="0" marL="0">
              <a:buNone/>
            </a:pPr>
            <a:r>
              <a:rPr lang="en-US" sz="1000" dirty="0">
                <a:solidFill>
                  <a:srgbClr val="8F8A82"/>
                </a:solidFill>
              </a:rPr>
              <a:t>The web is the only part that changes between packages: a new zoning is a laser file and two to three weeks, not a die.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LAYERS 3 TO 5 · PLENUM, SEPARATOR, CAP</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Folded, stamped and drawn: no forging, no machined manifold</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8</a:t>
            </a:r>
            <a:endParaRPr lang="en-US" sz="900" dirty="0"/>
          </a:p>
        </p:txBody>
      </p:sp>
      <p:pic>
        <p:nvPicPr>
          <p:cNvPr id="6" name="Folded plenum" descr="Folded plenum">    </p:cNvPr>
          <p:cNvPicPr>
            <a:picLocks noChangeAspect="1"/>
          </p:cNvPicPr>
          <p:nvPr/>
        </p:nvPicPr>
        <p:blipFill>
          <a:blip r:embed="rId1"/>
          <a:srcRect l="0" r="0" t="0" b="0"/>
          <a:stretch/>
        </p:blipFill>
        <p:spPr>
          <a:xfrm>
            <a:off x="548640" y="1645920"/>
            <a:ext cx="4389120" cy="2103120"/>
          </a:xfrm>
          <a:prstGeom prst="rect">
            <a:avLst/>
          </a:prstGeom>
        </p:spPr>
      </p:pic>
      <p:pic>
        <p:nvPicPr>
          <p:cNvPr id="7" name="Drawn cap" descr="Drawn cap">    </p:cNvPr>
          <p:cNvPicPr>
            <a:picLocks noChangeAspect="1"/>
          </p:cNvPicPr>
          <p:nvPr/>
        </p:nvPicPr>
        <p:blipFill>
          <a:blip r:embed="rId2"/>
          <a:srcRect l="0" r="0" t="0" b="0"/>
          <a:stretch/>
        </p:blipFill>
        <p:spPr>
          <a:xfrm>
            <a:off x="548640" y="3886200"/>
            <a:ext cx="4389120" cy="2103120"/>
          </a:xfrm>
          <a:prstGeom prst="rect">
            <a:avLst/>
          </a:prstGeom>
        </p:spPr>
      </p:pic>
      <p:sp>
        <p:nvSpPr>
          <p:cNvPr id="8" name="card Plenum: one 0.8 mm sheet"/>
          <p:cNvSpPr/>
          <p:nvPr/>
        </p:nvSpPr>
        <p:spPr>
          <a:xfrm>
            <a:off x="5212080" y="1645920"/>
            <a:ext cx="6400800" cy="1371600"/>
          </a:xfrm>
          <a:prstGeom prst="roundRect">
            <a:avLst>
              <a:gd name="adj" fmla="val 8000"/>
            </a:avLst>
          </a:prstGeom>
          <a:solidFill>
            <a:srgbClr val="F7F5F1"/>
          </a:solidFill>
          <a:ln w="9525">
            <a:solidFill>
              <a:srgbClr val="DDD8CF"/>
            </a:solidFill>
            <a:prstDash val="solid"/>
          </a:ln>
        </p:spPr>
      </p:sp>
      <p:sp>
        <p:nvSpPr>
          <p:cNvPr id="9" name="card head Plenum: one 0.8 mm sheet"/>
          <p:cNvSpPr txBox="1"/>
          <p:nvPr/>
        </p:nvSpPr>
        <p:spPr>
          <a:xfrm>
            <a:off x="5394960" y="1755648"/>
            <a:ext cx="6035040" cy="347472"/>
          </a:xfrm>
          <a:prstGeom prst="rect">
            <a:avLst/>
          </a:prstGeom>
          <a:noFill/>
          <a:ln/>
        </p:spPr>
        <p:txBody>
          <a:bodyPr wrap="square" lIns="0" tIns="0" rIns="0" bIns="0" rtlCol="0" anchor="t"/>
          <a:lstStyle/>
          <a:p>
            <a:pPr indent="0" marL="0">
              <a:buNone/>
            </a:pPr>
            <a:r>
              <a:rPr lang="en-US" sz="1400" b="1" dirty="0">
                <a:solidFill>
                  <a:srgbClr val="15191C"/>
                </a:solidFill>
              </a:rPr>
              <a:t>Plenum: one 0.8 mm sheet</a:t>
            </a:r>
            <a:endParaRPr lang="en-US" sz="1400" dirty="0"/>
          </a:p>
        </p:txBody>
      </p:sp>
      <p:sp>
        <p:nvSpPr>
          <p:cNvPr id="10" name="card body Plenum: one 0.8 mm sheet"/>
          <p:cNvSpPr txBox="1"/>
          <p:nvPr/>
        </p:nvSpPr>
        <p:spPr>
          <a:xfrm>
            <a:off x="5394960" y="2121408"/>
            <a:ext cx="6035040" cy="804672"/>
          </a:xfrm>
          <a:prstGeom prst="rect">
            <a:avLst/>
          </a:prstGeom>
          <a:noFill/>
          <a:ln/>
        </p:spPr>
        <p:txBody>
          <a:bodyPr wrap="square" lIns="0" tIns="0" rIns="0" bIns="0" rtlCol="0" anchor="t"/>
          <a:lstStyle/>
          <a:p>
            <a:pPr indent="0" marL="0">
              <a:buNone/>
            </a:pPr>
            <a:r>
              <a:rPr lang="en-US" sz="1100" dirty="0">
                <a:solidFill>
                  <a:srgbClr val="4A5058"/>
                </a:solidFill>
              </a:rPr>
              <a:t>Folded into 16 walls and 15 channels of 6.9 × 5.0 mm at 7.7143 mm pitch, held by two slotted end frames. Inlet channels take coolant through ceiling windows; 14 bleed holes leave no stagnant corner. Velocity at or below 0.65 m/s.</a:t>
            </a:r>
            <a:endParaRPr lang="en-US" sz="1100" dirty="0"/>
          </a:p>
        </p:txBody>
      </p:sp>
      <p:sp>
        <p:nvSpPr>
          <p:cNvPr id="11" name="card Separator: 1.8 mm plate"/>
          <p:cNvSpPr/>
          <p:nvPr/>
        </p:nvSpPr>
        <p:spPr>
          <a:xfrm>
            <a:off x="5212080" y="3127248"/>
            <a:ext cx="6400800" cy="1097280"/>
          </a:xfrm>
          <a:prstGeom prst="roundRect">
            <a:avLst>
              <a:gd name="adj" fmla="val 10000"/>
            </a:avLst>
          </a:prstGeom>
          <a:solidFill>
            <a:srgbClr val="F7F5F1"/>
          </a:solidFill>
          <a:ln w="9525">
            <a:solidFill>
              <a:srgbClr val="DDD8CF"/>
            </a:solidFill>
            <a:prstDash val="solid"/>
          </a:ln>
        </p:spPr>
      </p:sp>
      <p:sp>
        <p:nvSpPr>
          <p:cNvPr id="12" name="card head Separator: 1.8 mm plate"/>
          <p:cNvSpPr txBox="1"/>
          <p:nvPr/>
        </p:nvSpPr>
        <p:spPr>
          <a:xfrm>
            <a:off x="5394960" y="3236976"/>
            <a:ext cx="6035040" cy="347472"/>
          </a:xfrm>
          <a:prstGeom prst="rect">
            <a:avLst/>
          </a:prstGeom>
          <a:noFill/>
          <a:ln/>
        </p:spPr>
        <p:txBody>
          <a:bodyPr wrap="square" lIns="0" tIns="0" rIns="0" bIns="0" rtlCol="0" anchor="t"/>
          <a:lstStyle/>
          <a:p>
            <a:pPr indent="0" marL="0">
              <a:buNone/>
            </a:pPr>
            <a:r>
              <a:rPr lang="en-US" sz="1400" b="1" dirty="0">
                <a:solidFill>
                  <a:srgbClr val="15191C"/>
                </a:solidFill>
              </a:rPr>
              <a:t>Separator: 1.8 mm plate</a:t>
            </a:r>
            <a:endParaRPr lang="en-US" sz="1400" dirty="0"/>
          </a:p>
        </p:txBody>
      </p:sp>
      <p:sp>
        <p:nvSpPr>
          <p:cNvPr id="13" name="card body Separator: 1.8 mm plate"/>
          <p:cNvSpPr txBox="1"/>
          <p:nvPr/>
        </p:nvSpPr>
        <p:spPr>
          <a:xfrm>
            <a:off x="5394960" y="3602736"/>
            <a:ext cx="6035040" cy="530352"/>
          </a:xfrm>
          <a:prstGeom prst="rect">
            <a:avLst/>
          </a:prstGeom>
          <a:noFill/>
          <a:ln/>
        </p:spPr>
        <p:txBody>
          <a:bodyPr wrap="square" lIns="0" tIns="0" rIns="0" bIns="0" rtlCol="0" anchor="t"/>
          <a:lstStyle/>
          <a:p>
            <a:pPr indent="0" marL="0">
              <a:buNone/>
            </a:pPr>
            <a:r>
              <a:rPr lang="en-US" sz="1100" dirty="0">
                <a:solidFill>
                  <a:srgbClr val="4A5058"/>
                </a:solidFill>
              </a:rPr>
              <a:t>14 inlet windows at y −21 and −7, 32 outlet windows at +7, +21, +35 and +49, all 5 × 8 mm; 0.46 kPa. A 0.6 mm 316L option saves 106 g.</a:t>
            </a:r>
            <a:endParaRPr lang="en-US" sz="1100" dirty="0"/>
          </a:p>
        </p:txBody>
      </p:sp>
      <p:sp>
        <p:nvSpPr>
          <p:cNvPr id="14" name="card Cap: drawn 1.0 mm, skirted"/>
          <p:cNvSpPr/>
          <p:nvPr/>
        </p:nvSpPr>
        <p:spPr>
          <a:xfrm>
            <a:off x="5212080" y="4343400"/>
            <a:ext cx="6400800" cy="1645920"/>
          </a:xfrm>
          <a:prstGeom prst="roundRect">
            <a:avLst>
              <a:gd name="adj" fmla="val 6667"/>
            </a:avLst>
          </a:prstGeom>
          <a:solidFill>
            <a:srgbClr val="F7F5F1"/>
          </a:solidFill>
          <a:ln w="9525">
            <a:solidFill>
              <a:srgbClr val="DDD8CF"/>
            </a:solidFill>
            <a:prstDash val="solid"/>
          </a:ln>
        </p:spPr>
      </p:sp>
      <p:sp>
        <p:nvSpPr>
          <p:cNvPr id="15" name="card head Cap: drawn 1.0 mm, skirted"/>
          <p:cNvSpPr txBox="1"/>
          <p:nvPr/>
        </p:nvSpPr>
        <p:spPr>
          <a:xfrm>
            <a:off x="5394960" y="4453128"/>
            <a:ext cx="6035040" cy="347472"/>
          </a:xfrm>
          <a:prstGeom prst="rect">
            <a:avLst/>
          </a:prstGeom>
          <a:noFill/>
          <a:ln/>
        </p:spPr>
        <p:txBody>
          <a:bodyPr wrap="square" lIns="0" tIns="0" rIns="0" bIns="0" rtlCol="0" anchor="t"/>
          <a:lstStyle/>
          <a:p>
            <a:pPr indent="0" marL="0">
              <a:buNone/>
            </a:pPr>
            <a:r>
              <a:rPr lang="en-US" sz="1400" b="1" dirty="0">
                <a:solidFill>
                  <a:srgbClr val="15191C"/>
                </a:solidFill>
              </a:rPr>
              <a:t>Cap: drawn 1.0 mm, skirted</a:t>
            </a:r>
            <a:endParaRPr lang="en-US" sz="1400" dirty="0"/>
          </a:p>
        </p:txBody>
      </p:sp>
      <p:sp>
        <p:nvSpPr>
          <p:cNvPr id="16" name="card body Cap: drawn 1.0 mm, skirted"/>
          <p:cNvSpPr txBox="1"/>
          <p:nvPr/>
        </p:nvSpPr>
        <p:spPr>
          <a:xfrm>
            <a:off x="5394960" y="4818888"/>
            <a:ext cx="6035040" cy="1078992"/>
          </a:xfrm>
          <a:prstGeom prst="rect">
            <a:avLst/>
          </a:prstGeom>
          <a:noFill/>
          <a:ln/>
        </p:spPr>
        <p:txBody>
          <a:bodyPr wrap="square" lIns="0" tIns="0" rIns="0" bIns="0" rtlCol="0" anchor="t"/>
          <a:lstStyle/>
          <a:p>
            <a:pPr indent="0" marL="0">
              <a:buNone/>
            </a:pPr>
            <a:r>
              <a:rPr lang="en-US" sz="1100" dirty="0">
                <a:solidFill>
                  <a:srgbClr val="4A5058"/>
                </a:solidFill>
              </a:rPr>
              <a:t>Two inlet and four outlet arches, 10 × 7.7 mm internal at 14 mm pitch (the widest a 1.0 mm sheet can form with a brazeable valley), 35 mm cross domes under the 20 mm bosses, and a skirt drawn to 121.5 / 123.4 that laps 1.3 mm onto the rim. That lap, with one silver ring, is the plate’s only external seam. Bar height 20.8 mm.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3"/>
                </a:solidFill>
              </a:rPr>
              <a:t>ZONING</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bg2"/>
                </a:solidFill>
              </a:rPr>
              <a:t>Flow length follows heat flux, and a new package is a laser file</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9</a:t>
            </a:r>
            <a:endParaRPr lang="en-US" sz="9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5486400" cy="914400"/>
        </p:xfrm>
        <a:graphic>
          <a:graphicData uri="http://schemas.openxmlformats.org/drawingml/2006/table">
            <a:tbl>
              <a:tblPr/>
              <a:tblGrid>
                <a:gridCol w="2011680"/>
                <a:gridCol w="1463040"/>
                <a:gridCol w="2011680"/>
              </a:tblGrid>
              <a:tr h="0">
                <a:tc>
                  <a:txBody>
                    <a:bodyPr/>
                    <a:lstStyle/>
                    <a:p>
                      <a:pPr indent="0" marL="0">
                        <a:buNone/>
                      </a:pPr>
                      <a:r>
                        <a:rPr lang="en-US" sz="1200" b="1" dirty="0">
                          <a:solidFill>
                            <a:srgbClr val="D08A5E"/>
                          </a:solidFill>
                          <a:latin typeface="+mn-lt" pitchFamily="34" charset="0"/>
                          <a:ea typeface="+mn-lt" pitchFamily="34" charset="-122"/>
                          <a:cs typeface="+mn-lt" pitchFamily="34" charset="-120"/>
                        </a:rPr>
                        <a:t>Local heat flux</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242A2F"/>
                    </a:solidFill>
                  </a:tcPr>
                </a:tc>
                <a:tc>
                  <a:txBody>
                    <a:bodyPr/>
                    <a:lstStyle/>
                    <a:p>
                      <a:pPr indent="0" marL="0">
                        <a:buNone/>
                      </a:pPr>
                      <a:r>
                        <a:rPr lang="en-US" sz="1200" b="1" dirty="0">
                          <a:solidFill>
                            <a:srgbClr val="D08A5E"/>
                          </a:solidFill>
                          <a:latin typeface="+mn-lt" pitchFamily="34" charset="0"/>
                          <a:ea typeface="+mn-lt" pitchFamily="34" charset="-122"/>
                          <a:cs typeface="+mn-lt" pitchFamily="34" charset="-120"/>
                        </a:rPr>
                        <a:t>Cell length</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242A2F"/>
                    </a:solidFill>
                  </a:tcPr>
                </a:tc>
                <a:tc>
                  <a:txBody>
                    <a:bodyPr/>
                    <a:lstStyle/>
                    <a:p>
                      <a:pPr indent="0" marL="0">
                        <a:buNone/>
                      </a:pPr>
                      <a:r>
                        <a:rPr lang="en-US" sz="1200" b="1" dirty="0">
                          <a:solidFill>
                            <a:srgbClr val="D08A5E"/>
                          </a:solidFill>
                          <a:latin typeface="+mn-lt" pitchFamily="34" charset="0"/>
                          <a:ea typeface="+mn-lt" pitchFamily="34" charset="-122"/>
                          <a:cs typeface="+mn-lt" pitchFamily="34" charset="-120"/>
                        </a:rPr>
                        <a:t>Where</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242A2F"/>
                    </a:solidFill>
                  </a:tcPr>
                </a:tc>
              </a:tr>
              <a:tr h="0">
                <a:tc>
                  <a:txBody>
                    <a:bodyPr/>
                    <a:lstStyle/>
                    <a:p>
                      <a:pPr indent="0" marL="0">
                        <a:buNone/>
                      </a:pPr>
                      <a:r>
                        <a:rPr lang="en-US" sz="1200" dirty="0">
                          <a:solidFill>
                            <a:srgbClr val="F4F1EC"/>
                          </a:solidFill>
                          <a:latin typeface="+mn-lt" pitchFamily="34" charset="0"/>
                          <a:ea typeface="+mn-lt" pitchFamily="34" charset="-122"/>
                          <a:cs typeface="+mn-lt" pitchFamily="34" charset="-120"/>
                        </a:rPr>
                        <a:t>above 250 W/cm²</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200" dirty="0">
                          <a:solidFill>
                            <a:srgbClr val="F4F1EC"/>
                          </a:solidFill>
                          <a:latin typeface="+mn-lt" pitchFamily="34" charset="0"/>
                          <a:ea typeface="+mn-lt" pitchFamily="34" charset="-122"/>
                          <a:cs typeface="+mn-lt" pitchFamily="34" charset="-120"/>
                        </a:rPr>
                        <a:t>5 to 6 mm</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200" dirty="0">
                          <a:solidFill>
                            <a:srgbClr val="F4F1EC"/>
                          </a:solidFill>
                          <a:latin typeface="+mn-lt" pitchFamily="34" charset="0"/>
                          <a:ea typeface="+mn-lt" pitchFamily="34" charset="-122"/>
                          <a:cs typeface="+mn-lt" pitchFamily="34" charset="-120"/>
                        </a:rPr>
                        <a:t>compute dies</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r>
              <a:tr h="0">
                <a:tc>
                  <a:txBody>
                    <a:bodyPr/>
                    <a:lstStyle/>
                    <a:p>
                      <a:pPr indent="0" marL="0">
                        <a:buNone/>
                      </a:pPr>
                      <a:r>
                        <a:rPr lang="en-US" sz="1200" dirty="0">
                          <a:solidFill>
                            <a:srgbClr val="F4F1EC"/>
                          </a:solidFill>
                          <a:latin typeface="+mn-lt" pitchFamily="34" charset="0"/>
                          <a:ea typeface="+mn-lt" pitchFamily="34" charset="-122"/>
                          <a:cs typeface="+mn-lt" pitchFamily="34" charset="-120"/>
                        </a:rPr>
                        <a:t>100 to 250 W/cm²</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200" dirty="0">
                          <a:solidFill>
                            <a:srgbClr val="F4F1EC"/>
                          </a:solidFill>
                          <a:latin typeface="+mn-lt" pitchFamily="34" charset="0"/>
                          <a:ea typeface="+mn-lt" pitchFamily="34" charset="-122"/>
                          <a:cs typeface="+mn-lt" pitchFamily="34" charset="-120"/>
                        </a:rPr>
                        <a:t>6 to 8 mm</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200" dirty="0">
                          <a:solidFill>
                            <a:srgbClr val="F4F1EC"/>
                          </a:solidFill>
                          <a:latin typeface="+mn-lt" pitchFamily="34" charset="0"/>
                          <a:ea typeface="+mn-lt" pitchFamily="34" charset="-122"/>
                          <a:cs typeface="+mn-lt" pitchFamily="34" charset="-120"/>
                        </a:rPr>
                        <a:t>the 15 kW test plate: 7.7 mm</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r>
              <a:tr h="0">
                <a:tc>
                  <a:txBody>
                    <a:bodyPr/>
                    <a:lstStyle/>
                    <a:p>
                      <a:pPr indent="0" marL="0">
                        <a:buNone/>
                      </a:pPr>
                      <a:r>
                        <a:rPr lang="en-US" sz="1200" dirty="0">
                          <a:solidFill>
                            <a:srgbClr val="F4F1EC"/>
                          </a:solidFill>
                          <a:latin typeface="+mn-lt" pitchFamily="34" charset="0"/>
                          <a:ea typeface="+mn-lt" pitchFamily="34" charset="-122"/>
                          <a:cs typeface="+mn-lt" pitchFamily="34" charset="-120"/>
                        </a:rPr>
                        <a:t>50 to 100 W/cm²</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200" dirty="0">
                          <a:solidFill>
                            <a:srgbClr val="F4F1EC"/>
                          </a:solidFill>
                          <a:latin typeface="+mn-lt" pitchFamily="34" charset="0"/>
                          <a:ea typeface="+mn-lt" pitchFamily="34" charset="-122"/>
                          <a:cs typeface="+mn-lt" pitchFamily="34" charset="-120"/>
                        </a:rPr>
                        <a:t>8 to 12 mm</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200" dirty="0">
                          <a:solidFill>
                            <a:srgbClr val="F4F1EC"/>
                          </a:solidFill>
                          <a:latin typeface="+mn-lt" pitchFamily="34" charset="0"/>
                          <a:ea typeface="+mn-lt" pitchFamily="34" charset="-122"/>
                          <a:cs typeface="+mn-lt" pitchFamily="34" charset="-120"/>
                        </a:rPr>
                        <a:t>memory stacks</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r>
              <a:tr h="0">
                <a:tc>
                  <a:txBody>
                    <a:bodyPr/>
                    <a:lstStyle/>
                    <a:p>
                      <a:pPr indent="0" marL="0">
                        <a:buNone/>
                      </a:pPr>
                      <a:r>
                        <a:rPr lang="en-US" sz="1200" dirty="0">
                          <a:solidFill>
                            <a:srgbClr val="F4F1EC"/>
                          </a:solidFill>
                          <a:latin typeface="+mn-lt" pitchFamily="34" charset="0"/>
                          <a:ea typeface="+mn-lt" pitchFamily="34" charset="-122"/>
                          <a:cs typeface="+mn-lt" pitchFamily="34" charset="-120"/>
                        </a:rPr>
                        <a:t>below 50 W/cm²</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200" dirty="0">
                          <a:solidFill>
                            <a:srgbClr val="F4F1EC"/>
                          </a:solidFill>
                          <a:latin typeface="+mn-lt" pitchFamily="34" charset="0"/>
                          <a:ea typeface="+mn-lt" pitchFamily="34" charset="-122"/>
                          <a:cs typeface="+mn-lt" pitchFamily="34" charset="-120"/>
                        </a:rPr>
                        <a:t>12 mm</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200" dirty="0">
                          <a:solidFill>
                            <a:srgbClr val="F4F1EC"/>
                          </a:solidFill>
                          <a:latin typeface="+mn-lt" pitchFamily="34" charset="0"/>
                          <a:ea typeface="+mn-lt" pitchFamily="34" charset="-122"/>
                          <a:cs typeface="+mn-lt" pitchFamily="34" charset="-120"/>
                        </a:rPr>
                        <a:t>lid margins, slot-end bleeds only</a:t>
                      </a:r>
                      <a:endParaRPr lang="en-US" sz="12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r>
            </a:tbl>
          </a:graphicData>
        </a:graphic>
      </p:graphicFrame>
      <p:sp>
        <p:nvSpPr>
          <p:cNvPr id="7" name="card Why length, not just flow"/>
          <p:cNvSpPr/>
          <p:nvPr/>
        </p:nvSpPr>
        <p:spPr>
          <a:xfrm>
            <a:off x="6400800" y="1645920"/>
            <a:ext cx="5212080" cy="1920240"/>
          </a:xfrm>
          <a:prstGeom prst="roundRect">
            <a:avLst>
              <a:gd name="adj" fmla="val 5714"/>
            </a:avLst>
          </a:prstGeom>
          <a:solidFill>
            <a:srgbClr val="242A2F"/>
          </a:solidFill>
          <a:ln w="9525">
            <a:solidFill>
              <a:srgbClr val="3A4046"/>
            </a:solidFill>
            <a:prstDash val="solid"/>
          </a:ln>
        </p:spPr>
      </p:sp>
      <p:sp>
        <p:nvSpPr>
          <p:cNvPr id="8" name="card head Why length, not just flow"/>
          <p:cNvSpPr txBox="1"/>
          <p:nvPr/>
        </p:nvSpPr>
        <p:spPr>
          <a:xfrm>
            <a:off x="6583680" y="1755648"/>
            <a:ext cx="4846320" cy="347472"/>
          </a:xfrm>
          <a:prstGeom prst="rect">
            <a:avLst/>
          </a:prstGeom>
          <a:noFill/>
          <a:ln/>
        </p:spPr>
        <p:txBody>
          <a:bodyPr wrap="square" lIns="0" tIns="0" rIns="0" bIns="0" rtlCol="0" anchor="t"/>
          <a:lstStyle/>
          <a:p>
            <a:pPr indent="0" marL="0">
              <a:buNone/>
            </a:pPr>
            <a:r>
              <a:rPr lang="en-US" sz="1400" b="1" dirty="0">
                <a:solidFill>
                  <a:srgbClr val="D08A5E"/>
                </a:solidFill>
              </a:rPr>
              <a:t>Why length, not just flow</a:t>
            </a:r>
            <a:endParaRPr lang="en-US" sz="1400" dirty="0"/>
          </a:p>
        </p:txBody>
      </p:sp>
      <p:sp>
        <p:nvSpPr>
          <p:cNvPr id="9" name="card body Why length, not just flow"/>
          <p:cNvSpPr txBox="1"/>
          <p:nvPr/>
        </p:nvSpPr>
        <p:spPr>
          <a:xfrm>
            <a:off x="6583680" y="2121408"/>
            <a:ext cx="4846320" cy="1353312"/>
          </a:xfrm>
          <a:prstGeom prst="rect">
            <a:avLst/>
          </a:prstGeom>
          <a:noFill/>
          <a:ln/>
        </p:spPr>
        <p:txBody>
          <a:bodyPr wrap="square" lIns="0" tIns="0" rIns="0" bIns="0" rtlCol="0" anchor="t"/>
          <a:lstStyle/>
          <a:p>
            <a:pPr indent="0" marL="0">
              <a:buNone/>
            </a:pPr>
            <a:r>
              <a:rPr lang="en-US" sz="1100" dirty="0">
                <a:solidFill>
                  <a:srgbClr val="C9C4BB"/>
                </a:solidFill>
              </a:rPr>
              <a:t>The two-dimensional cell model shows the average case temperature falling with cell length at every flux while the case ripple is flat between 5 and 8 mm. Grading length turned the architecture’s one conceded loss on uniform low-flux lids into parity.</a:t>
            </a:r>
            <a:endParaRPr lang="en-US" sz="1100" dirty="0"/>
          </a:p>
        </p:txBody>
      </p:sp>
      <p:sp>
        <p:nvSpPr>
          <p:cNvPr id="10" name="card GPU example shipped with the package"/>
          <p:cNvSpPr/>
          <p:nvPr/>
        </p:nvSpPr>
        <p:spPr>
          <a:xfrm>
            <a:off x="6400800" y="3749040"/>
            <a:ext cx="5212080" cy="2103120"/>
          </a:xfrm>
          <a:prstGeom prst="roundRect">
            <a:avLst>
              <a:gd name="adj" fmla="val 5217"/>
            </a:avLst>
          </a:prstGeom>
          <a:solidFill>
            <a:srgbClr val="242A2F"/>
          </a:solidFill>
          <a:ln w="9525">
            <a:solidFill>
              <a:srgbClr val="3A4046"/>
            </a:solidFill>
            <a:prstDash val="solid"/>
          </a:ln>
        </p:spPr>
      </p:sp>
      <p:sp>
        <p:nvSpPr>
          <p:cNvPr id="11" name="card head GPU example shipped with the package"/>
          <p:cNvSpPr txBox="1"/>
          <p:nvPr/>
        </p:nvSpPr>
        <p:spPr>
          <a:xfrm>
            <a:off x="6583680" y="3858768"/>
            <a:ext cx="4846320" cy="347472"/>
          </a:xfrm>
          <a:prstGeom prst="rect">
            <a:avLst/>
          </a:prstGeom>
          <a:noFill/>
          <a:ln/>
        </p:spPr>
        <p:txBody>
          <a:bodyPr wrap="square" lIns="0" tIns="0" rIns="0" bIns="0" rtlCol="0" anchor="t"/>
          <a:lstStyle/>
          <a:p>
            <a:pPr indent="0" marL="0">
              <a:buNone/>
            </a:pPr>
            <a:r>
              <a:rPr lang="en-US" sz="1400" b="1" dirty="0">
                <a:solidFill>
                  <a:srgbClr val="D08A5E"/>
                </a:solidFill>
              </a:rPr>
              <a:t>GPU example shipped with the package</a:t>
            </a:r>
            <a:endParaRPr lang="en-US" sz="1400" dirty="0"/>
          </a:p>
        </p:txBody>
      </p:sp>
      <p:sp>
        <p:nvSpPr>
          <p:cNvPr id="12" name="card body GPU example shipped with the package"/>
          <p:cNvSpPr txBox="1"/>
          <p:nvPr/>
        </p:nvSpPr>
        <p:spPr>
          <a:xfrm>
            <a:off x="6583680" y="4224528"/>
            <a:ext cx="4846320" cy="1536192"/>
          </a:xfrm>
          <a:prstGeom prst="rect">
            <a:avLst/>
          </a:prstGeom>
          <a:noFill/>
          <a:ln/>
        </p:spPr>
        <p:txBody>
          <a:bodyPr wrap="square" lIns="0" tIns="0" rIns="0" bIns="0" rtlCol="0" anchor="t"/>
          <a:lstStyle/>
          <a:p>
            <a:pPr indent="0" marL="0">
              <a:buNone/>
            </a:pPr>
            <a:r>
              <a:rPr lang="en-US" sz="1100" dirty="0">
                <a:solidFill>
                  <a:srgbClr val="C9C4BB"/>
                </a:solidFill>
              </a:rPr>
              <a:t>Four 26 × 33 mm dies at 350 W/cm² plus 16 HBM stacks on a 110 × 120 mm field: 17 lines, 5.5 mm over the dies and 11 mm over memory; the die block takes about 88 % of the flow and no memory stack sits downstream of a die.</a:t>
            </a:r>
            <a:endParaRPr lang="en-US" sz="1100" dirty="0"/>
          </a:p>
        </p:txBody>
      </p:sp>
      <p:sp>
        <p:nvSpPr>
          <p:cNvPr id="13" name="text"/>
          <p:cNvSpPr txBox="1"/>
          <p:nvPr/>
        </p:nvSpPr>
        <p:spPr>
          <a:xfrm>
            <a:off x="548640" y="4572000"/>
            <a:ext cx="5486400" cy="731520"/>
          </a:xfrm>
          <a:prstGeom prst="rect">
            <a:avLst/>
          </a:prstGeom>
          <a:noFill/>
          <a:ln/>
        </p:spPr>
        <p:txBody>
          <a:bodyPr wrap="square" lIns="0" tIns="0" rIns="0" bIns="0" rtlCol="0" anchor="t"/>
          <a:lstStyle/>
          <a:p>
            <a:pPr indent="0" marL="0">
              <a:buNone/>
            </a:pPr>
            <a:r>
              <a:rPr lang="en-US" sz="1100" dirty="0">
                <a:solidFill>
                  <a:srgbClr val="C9C4BB"/>
                </a:solidFill>
              </a:rPr>
              <a:t>Core, grate land plate, plenum and cap tooling are common across packages; only the 0.4 mm meter web and the pedestal cut change.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PREDICTED DATASHEET</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The numbers a sales sheet would carry, with their spread</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10</a:t>
            </a:r>
            <a:endParaRPr lang="en-US" sz="9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4754880"/>
                <a:gridCol w="2103120"/>
                <a:gridCol w="2103120"/>
                <a:gridCol w="2103120"/>
              </a:tblGrid>
              <a:tr h="0">
                <a:tc>
                  <a:txBody>
                    <a:bodyPr/>
                    <a:lstStyle/>
                    <a:p>
                      <a:pPr indent="0" marL="0">
                        <a:buNone/>
                      </a:pPr>
                      <a:r>
                        <a:rPr lang="en-US" sz="1100" b="1" dirty="0">
                          <a:solidFill>
                            <a:srgbClr val="15191C"/>
                          </a:solidFill>
                          <a:latin typeface="+mn-lt" pitchFamily="34" charset="0"/>
                          <a:ea typeface="+mn-lt" pitchFamily="34" charset="-122"/>
                          <a:cs typeface="+mn-lt" pitchFamily="34" charset="-120"/>
                        </a:rPr>
                        <a:t>15 kW, 45 °C PG25 inlet, 117 cm², OCP format</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100" b="1" dirty="0">
                          <a:solidFill>
                            <a:srgbClr val="15191C"/>
                          </a:solidFill>
                          <a:latin typeface="+mn-lt" pitchFamily="34" charset="0"/>
                          <a:ea typeface="+mn-lt" pitchFamily="34" charset="-122"/>
                          <a:cs typeface="+mn-lt" pitchFamily="34" charset="-120"/>
                        </a:rPr>
                        <a:t>Phase-change pad</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100" b="1" dirty="0">
                          <a:solidFill>
                            <a:srgbClr val="15191C"/>
                          </a:solidFill>
                          <a:latin typeface="+mn-lt" pitchFamily="34" charset="0"/>
                          <a:ea typeface="+mn-lt" pitchFamily="34" charset="-122"/>
                          <a:cs typeface="+mn-lt" pitchFamily="34" charset="-120"/>
                        </a:rPr>
                        <a:t>Paste</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100" b="1" dirty="0">
                          <a:solidFill>
                            <a:srgbClr val="15191C"/>
                          </a:solidFill>
                          <a:latin typeface="+mn-lt" pitchFamily="34" charset="0"/>
                          <a:ea typeface="+mn-lt" pitchFamily="34" charset="-122"/>
                          <a:cs typeface="+mn-lt" pitchFamily="34" charset="-120"/>
                        </a:rPr>
                        <a:t>Liquid metal, Tier 2</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R″ average / maximum at 18 LPM (cm²·K/W)</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0.228 / 0.272</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0.243 / 0.303</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0.188 / 0.225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Rise, average / maximum at 18 LPM (K)</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29.2 / 34.9</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31.1 / 38.8</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24.1 / 28.9</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Rise at the 15 LPM rated flow (K)</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30.9 / 37.1</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32.9 / 41.0</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25.8 / 31.1</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Inlet allowed at 15 kW, 85 °C maximum case (°C)</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50.1</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46.2</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52.3, return-limited</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Capacity at 85 °C case, 45 °C inlet, 1.2 LPM/kW (kW)</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18.4</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15.7</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19.5 rated (25.4 thermal)</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Plate dP at 15 / 18 / 22.5 / 36 LPM, 20 mm bore (kPa)</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5.5 / 7.6 / 11.4 / 27.5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same</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same</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P10 / P50 / P90 of the average at 18 LPM (K)</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26.7 / 29.3 / 32.4</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27.9 / 31.2 / 35.4</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22.2 / 24.2 / 26.4</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P10 / P50 / P90 of the maximum at 18 LPM (K)</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32.3 / 35.2 / 38.6</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35.6 / 39.3 / 43.7</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26.9 / 29.2 / 31.8</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bl>
          </a:graphicData>
        </a:graphic>
      </p:graphicFrame>
      <p:sp>
        <p:nvSpPr>
          <p:cNvPr id="7" name="text"/>
          <p:cNvSpPr txBox="1"/>
          <p:nvPr/>
        </p:nvSpPr>
        <p:spPr>
          <a:xfrm>
            <a:off x="548640" y="5349240"/>
            <a:ext cx="11064240" cy="822960"/>
          </a:xfrm>
          <a:prstGeom prst="rect">
            <a:avLst/>
          </a:prstGeom>
          <a:noFill/>
          <a:ln/>
        </p:spPr>
        <p:txBody>
          <a:bodyPr wrap="square" lIns="0" tIns="0" rIns="0" bIns="0" rtlCol="0" anchor="t"/>
          <a:lstStyle/>
          <a:p>
            <a:pPr indent="0" marL="0">
              <a:buNone/>
            </a:pPr>
            <a:r>
              <a:rPr lang="en-US" sz="1100" dirty="0">
                <a:solidFill>
                  <a:srgbClr val="4A5058"/>
                </a:solidFill>
              </a:rPr>
              <a:t>Term budget at the benchmark with paste: coolant 7.5 K, interface 9.0 K, base 2.8 K, convection 10.9 K, two-dimensional penalty 0.9 K. CoolIT’s measured 34.4 K decomposes as 6.3, 9.0, 6.6 and 12.6 K on the same model: PRISM gives back 3.8 K of base and 1.7 K of convection and pays 1.2 K more in the coolant.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FLOW SWEEP AND PRESSURE DROP</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The maximum wins at every flow; the plate drop is a third of the reconstruction</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11</a:t>
            </a:r>
            <a:endParaRPr lang="en-US" sz="900" dirty="0"/>
          </a:p>
        </p:txBody>
      </p:sp>
      <p:sp>
        <p:nvSpPr>
          <p:cNvPr id="6" name="text"/>
          <p:cNvSpPr txBox="1"/>
          <p:nvPr/>
        </p:nvSpPr>
        <p:spPr>
          <a:xfrm>
            <a:off x="548640" y="1600200"/>
            <a:ext cx="5486400" cy="274320"/>
          </a:xfrm>
          <a:prstGeom prst="rect">
            <a:avLst/>
          </a:prstGeom>
          <a:noFill/>
          <a:ln/>
        </p:spPr>
        <p:txBody>
          <a:bodyPr wrap="square" lIns="0" tIns="0" rIns="0" bIns="0" rtlCol="0" anchor="t"/>
          <a:lstStyle/>
          <a:p>
            <a:pPr indent="0" marL="0">
              <a:buNone/>
            </a:pPr>
            <a:r>
              <a:rPr lang="en-US" sz="1300" b="1" dirty="0">
                <a:solidFill>
                  <a:srgbClr val="15191C"/>
                </a:solidFill>
              </a:rPr>
              <a:t>Case-to-inlet rise at 15 kW, K</a:t>
            </a:r>
            <a:endParaRPr lang="en-US" sz="13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920240"/>
          <a:ext cx="5486400" cy="914400"/>
        </p:xfrm>
        <a:graphic>
          <a:graphicData uri="http://schemas.openxmlformats.org/drawingml/2006/table">
            <a:tbl>
              <a:tblPr/>
              <a:tblGrid>
                <a:gridCol w="822960"/>
                <a:gridCol w="1463040"/>
                <a:gridCol w="1463040"/>
                <a:gridCol w="1737360"/>
              </a:tblGrid>
              <a:tr h="0">
                <a:tc>
                  <a:txBody>
                    <a:bodyPr/>
                    <a:lstStyle/>
                    <a:p>
                      <a:pPr indent="0" marL="0">
                        <a:buNone/>
                      </a:pPr>
                      <a:r>
                        <a:rPr lang="en-US" sz="1100" b="1" dirty="0">
                          <a:solidFill>
                            <a:srgbClr val="15191C"/>
                          </a:solidFill>
                          <a:latin typeface="+mn-lt" pitchFamily="34" charset="0"/>
                          <a:ea typeface="+mn-lt" pitchFamily="34" charset="-122"/>
                          <a:cs typeface="+mn-lt" pitchFamily="34" charset="-120"/>
                        </a:rPr>
                        <a:t>LPM</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100" b="1" dirty="0">
                          <a:solidFill>
                            <a:srgbClr val="15191C"/>
                          </a:solidFill>
                          <a:latin typeface="+mn-lt" pitchFamily="34" charset="0"/>
                          <a:ea typeface="+mn-lt" pitchFamily="34" charset="-122"/>
                          <a:cs typeface="+mn-lt" pitchFamily="34" charset="-120"/>
                        </a:rPr>
                        <a:t>Pad avg / max</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100" b="1" dirty="0">
                          <a:solidFill>
                            <a:srgbClr val="15191C"/>
                          </a:solidFill>
                          <a:latin typeface="+mn-lt" pitchFamily="34" charset="0"/>
                          <a:ea typeface="+mn-lt" pitchFamily="34" charset="-122"/>
                          <a:cs typeface="+mn-lt" pitchFamily="34" charset="-120"/>
                        </a:rPr>
                        <a:t>Paste avg / max</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100" b="1" dirty="0">
                          <a:solidFill>
                            <a:srgbClr val="15191C"/>
                          </a:solidFill>
                          <a:latin typeface="+mn-lt" pitchFamily="34" charset="0"/>
                          <a:ea typeface="+mn-lt" pitchFamily="34" charset="-122"/>
                          <a:cs typeface="+mn-lt" pitchFamily="34" charset="-120"/>
                        </a:rPr>
                        <a:t>CoolIT-like paste</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7.5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41.9 / 50.5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43.8 / 54.4</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43.5 / 62.1</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11.25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34.5 / 41.5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36.4 / 45.4</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38.4 / 51.9</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15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30.9 / 37.1</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32.9 / 41.0</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35.7 / 46.8</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18</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29.2 / 34.9</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31.1 / 38.8</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34.4 / 44.2 measured</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22.5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27.4 / 32.7</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29.4 / 36.6</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33.0 / 41.5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bl>
          </a:graphicData>
        </a:graphic>
      </p:graphicFrame>
      <p:sp>
        <p:nvSpPr>
          <p:cNvPr id="8" name="text"/>
          <p:cNvSpPr txBox="1"/>
          <p:nvPr/>
        </p:nvSpPr>
        <p:spPr>
          <a:xfrm>
            <a:off x="6309360" y="1600200"/>
            <a:ext cx="5486400" cy="274320"/>
          </a:xfrm>
          <a:prstGeom prst="rect">
            <a:avLst/>
          </a:prstGeom>
          <a:noFill/>
          <a:ln/>
        </p:spPr>
        <p:txBody>
          <a:bodyPr wrap="square" lIns="0" tIns="0" rIns="0" bIns="0" rtlCol="0" anchor="t"/>
          <a:lstStyle/>
          <a:p>
            <a:pPr indent="0" marL="0">
              <a:buNone/>
            </a:pPr>
            <a:r>
              <a:rPr lang="en-US" sz="1300" b="1" dirty="0">
                <a:solidFill>
                  <a:srgbClr val="15191C"/>
                </a:solidFill>
              </a:rPr>
              <a:t>Pressure drop, PG25 at 45 °C, kPa</a:t>
            </a:r>
            <a:endParaRPr lang="en-US" sz="13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6309360" y="1920240"/>
          <a:ext cx="5303520" cy="914400"/>
        </p:xfrm>
        <a:graphic>
          <a:graphicData uri="http://schemas.openxmlformats.org/drawingml/2006/table">
            <a:tbl>
              <a:tblPr/>
              <a:tblGrid>
                <a:gridCol w="731520"/>
                <a:gridCol w="1371600"/>
                <a:gridCol w="1005840"/>
                <a:gridCol w="1188720"/>
                <a:gridCol w="1005840"/>
              </a:tblGrid>
              <a:tr h="0">
                <a:tc>
                  <a:txBody>
                    <a:bodyPr/>
                    <a:lstStyle/>
                    <a:p>
                      <a:pPr indent="0" marL="0">
                        <a:buNone/>
                      </a:pPr>
                      <a:r>
                        <a:rPr lang="en-US" sz="1100" b="1" dirty="0">
                          <a:solidFill>
                            <a:srgbClr val="15191C"/>
                          </a:solidFill>
                          <a:latin typeface="+mn-lt" pitchFamily="34" charset="0"/>
                          <a:ea typeface="+mn-lt" pitchFamily="34" charset="-122"/>
                          <a:cs typeface="+mn-lt" pitchFamily="34" charset="-120"/>
                        </a:rPr>
                        <a:t>LPM</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100" b="1" dirty="0">
                          <a:solidFill>
                            <a:srgbClr val="15191C"/>
                          </a:solidFill>
                          <a:latin typeface="+mn-lt" pitchFamily="34" charset="0"/>
                          <a:ea typeface="+mn-lt" pitchFamily="34" charset="-122"/>
                          <a:cs typeface="+mn-lt" pitchFamily="34" charset="-120"/>
                        </a:rPr>
                        <a:t>Plate, 20 mm ports</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100" b="1" dirty="0">
                          <a:solidFill>
                            <a:srgbClr val="15191C"/>
                          </a:solidFill>
                          <a:latin typeface="+mn-lt" pitchFamily="34" charset="0"/>
                          <a:ea typeface="+mn-lt" pitchFamily="34" charset="-122"/>
                          <a:cs typeface="+mn-lt" pitchFamily="34" charset="-120"/>
                        </a:rPr>
                        <a:t>With barbs</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100" b="1" dirty="0">
                          <a:solidFill>
                            <a:srgbClr val="15191C"/>
                          </a:solidFill>
                          <a:latin typeface="+mn-lt" pitchFamily="34" charset="0"/>
                          <a:ea typeface="+mn-lt" pitchFamily="34" charset="-122"/>
                          <a:cs typeface="+mn-lt" pitchFamily="34" charset="-120"/>
                        </a:rPr>
                        <a:t>With UQD08 pair</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100" b="1" dirty="0">
                          <a:solidFill>
                            <a:srgbClr val="15191C"/>
                          </a:solidFill>
                          <a:latin typeface="+mn-lt" pitchFamily="34" charset="0"/>
                          <a:ea typeface="+mn-lt" pitchFamily="34" charset="-122"/>
                          <a:cs typeface="+mn-lt" pitchFamily="34" charset="-120"/>
                        </a:rPr>
                        <a:t>CoolIT-like</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7.5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1.7</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2.2</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4.6 to 6.3</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7.8</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15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5.5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7.6</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17 to 24</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19.1</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18</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7.6</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10.6</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25 to 34</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24.6</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27</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16.0</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22.7</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54 to 76</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44.4</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36</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27.5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39.5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95 to 134</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69.3</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bl>
          </a:graphicData>
        </a:graphic>
      </p:graphicFrame>
      <p:sp>
        <p:nvSpPr>
          <p:cNvPr id="10" name="text"/>
          <p:cNvSpPr txBox="1"/>
          <p:nvPr/>
        </p:nvSpPr>
        <p:spPr>
          <a:xfrm>
            <a:off x="548640" y="4480560"/>
            <a:ext cx="5486400" cy="731520"/>
          </a:xfrm>
          <a:prstGeom prst="rect">
            <a:avLst/>
          </a:prstGeom>
          <a:noFill/>
          <a:ln/>
        </p:spPr>
        <p:txBody>
          <a:bodyPr wrap="square" lIns="0" tIns="0" rIns="0" bIns="0" rtlCol="0" anchor="t"/>
          <a:lstStyle/>
          <a:p>
            <a:pPr indent="0" marL="0">
              <a:buNone/>
            </a:pPr>
            <a:r>
              <a:rPr lang="en-US" sz="1100" dirty="0">
                <a:solidFill>
                  <a:srgbClr val="4A5058"/>
                </a:solidFill>
              </a:rPr>
              <a:t>The average crosses at about 0.5 LPM/kW: below that the split-flow plate’s short caloric path wins on the average. The maximum never crosses.</a:t>
            </a:r>
            <a:endParaRPr lang="en-US" sz="1100" dirty="0"/>
          </a:p>
        </p:txBody>
      </p:sp>
      <p:sp>
        <p:nvSpPr>
          <p:cNvPr id="11" name="text"/>
          <p:cNvSpPr txBox="1"/>
          <p:nvPr/>
        </p:nvSpPr>
        <p:spPr>
          <a:xfrm>
            <a:off x="6309360" y="4480560"/>
            <a:ext cx="5303520" cy="731520"/>
          </a:xfrm>
          <a:prstGeom prst="rect">
            <a:avLst/>
          </a:prstGeom>
          <a:noFill/>
          <a:ln/>
        </p:spPr>
        <p:txBody>
          <a:bodyPr wrap="square" lIns="0" tIns="0" rIns="0" bIns="0" rtlCol="0" anchor="t"/>
          <a:lstStyle/>
          <a:p>
            <a:pPr indent="0" marL="0">
              <a:buNone/>
            </a:pPr>
            <a:r>
              <a:rPr lang="en-US" sz="1100" dirty="0">
                <a:solidFill>
                  <a:srgbClr val="4A5058"/>
                </a:solidFill>
              </a:rPr>
              <a:t>81 % of the plate drop is inertial. The meter takes 2.3 kPa, the fins 1.1, the ports 1.6. Quick-disconnects dominate any tray loop, which is why we publish three boundaries.</a:t>
            </a:r>
            <a:endParaRPr lang="en-US" sz="1100" dirty="0"/>
          </a:p>
        </p:txBody>
      </p:sp>
      <p:sp>
        <p:nvSpPr>
          <p:cNvPr id="12" name="text"/>
          <p:cNvSpPr txBox="1"/>
          <p:nvPr/>
        </p:nvSpPr>
        <p:spPr>
          <a:xfrm>
            <a:off x="548640" y="5760720"/>
            <a:ext cx="11064240" cy="457200"/>
          </a:xfrm>
          <a:prstGeom prst="rect">
            <a:avLst/>
          </a:prstGeom>
          <a:noFill/>
          <a:ln/>
        </p:spPr>
        <p:txBody>
          <a:bodyPr wrap="square" lIns="0" tIns="0" rIns="0" bIns="0" rtlCol="0" anchor="t"/>
          <a:lstStyle/>
          <a:p>
            <a:pPr indent="0" marL="0">
              <a:buNone/>
            </a:pPr>
            <a:r>
              <a:rPr lang="en-US" sz="1000" dirty="0">
                <a:solidFill>
                  <a:srgbClr val="8F8A82"/>
                </a:solidFill>
              </a:rPr>
              <a:t>CoolIT-like columns are our calibrated split-flow model, measured only at 18 LPM (34.4 / 44.2 K). External claim: at or below 10 kPa at 18 LPM and 30 kPa at 36 LPM with 20 mm ports.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3"/>
                </a:solidFill>
              </a:rPr>
              <a:t>MARGINS</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bg2"/>
                </a:solidFill>
              </a:rPr>
              <a:t>Rated by velocity, proven by pressure, gated on one defect</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12</a:t>
            </a:r>
            <a:endParaRPr lang="en-US" sz="900" dirty="0"/>
          </a:p>
        </p:txBody>
      </p:sp>
      <p:sp>
        <p:nvSpPr>
          <p:cNvPr id="6" name="card Pressure ratings"/>
          <p:cNvSpPr/>
          <p:nvPr/>
        </p:nvSpPr>
        <p:spPr>
          <a:xfrm>
            <a:off x="548640" y="1645920"/>
            <a:ext cx="5394960" cy="2148840"/>
          </a:xfrm>
          <a:prstGeom prst="roundRect">
            <a:avLst>
              <a:gd name="adj" fmla="val 5106"/>
            </a:avLst>
          </a:prstGeom>
          <a:solidFill>
            <a:srgbClr val="242A2F"/>
          </a:solidFill>
          <a:ln w="9525">
            <a:solidFill>
              <a:srgbClr val="3A4046"/>
            </a:solidFill>
            <a:prstDash val="solid"/>
          </a:ln>
        </p:spPr>
      </p:sp>
      <p:sp>
        <p:nvSpPr>
          <p:cNvPr id="7" name="card head Pressure ratings"/>
          <p:cNvSpPr txBox="1"/>
          <p:nvPr/>
        </p:nvSpPr>
        <p:spPr>
          <a:xfrm>
            <a:off x="731520" y="1755648"/>
            <a:ext cx="5029200" cy="347472"/>
          </a:xfrm>
          <a:prstGeom prst="rect">
            <a:avLst/>
          </a:prstGeom>
          <a:noFill/>
          <a:ln/>
        </p:spPr>
        <p:txBody>
          <a:bodyPr wrap="square" lIns="0" tIns="0" rIns="0" bIns="0" rtlCol="0" anchor="t"/>
          <a:lstStyle/>
          <a:p>
            <a:pPr indent="0" marL="0">
              <a:buNone/>
            </a:pPr>
            <a:r>
              <a:rPr lang="en-US" sz="1400" b="1" dirty="0">
                <a:solidFill>
                  <a:srgbClr val="D08A5E"/>
                </a:solidFill>
              </a:rPr>
              <a:t>Pressure ratings</a:t>
            </a:r>
            <a:endParaRPr lang="en-US" sz="1400" dirty="0"/>
          </a:p>
        </p:txBody>
      </p:sp>
      <p:sp>
        <p:nvSpPr>
          <p:cNvPr id="8" name="card body Pressure ratings"/>
          <p:cNvSpPr txBox="1"/>
          <p:nvPr/>
        </p:nvSpPr>
        <p:spPr>
          <a:xfrm>
            <a:off x="731520" y="2121408"/>
            <a:ext cx="5029200" cy="1581912"/>
          </a:xfrm>
          <a:prstGeom prst="rect">
            <a:avLst/>
          </a:prstGeom>
          <a:noFill/>
          <a:ln/>
        </p:spPr>
        <p:txBody>
          <a:bodyPr wrap="square" lIns="0" tIns="0" rIns="0" bIns="0" rtlCol="0" anchor="t"/>
          <a:lstStyle/>
          <a:p>
            <a:pPr indent="0" marL="0">
              <a:buNone/>
            </a:pPr>
            <a:r>
              <a:rPr lang="en-US" sz="1100" dirty="0">
                <a:solidFill>
                  <a:srgbClr val="C9C4BB"/>
                </a:solidFill>
              </a:rPr>
              <a:t>Working pressure 1.03 MPa (150 psi), 100 % proof at 1.55 MPa, design burst at or above 3.1 MPa, sample burst at or above 4.5 MPa. Highest stress at design burst: 29.8 MPa in the plenum wall against a 40 MPa allowable for annealed copper. The 12 kN pressure load on the fin field is carried by the ties and never reaches the clamp.</a:t>
            </a:r>
            <a:endParaRPr lang="en-US" sz="1100" dirty="0"/>
          </a:p>
        </p:txBody>
      </p:sp>
      <p:sp>
        <p:nvSpPr>
          <p:cNvPr id="9" name="card Velocity caps set the rating"/>
          <p:cNvSpPr/>
          <p:nvPr/>
        </p:nvSpPr>
        <p:spPr>
          <a:xfrm>
            <a:off x="6217920" y="1645920"/>
            <a:ext cx="5394960" cy="2148840"/>
          </a:xfrm>
          <a:prstGeom prst="roundRect">
            <a:avLst>
              <a:gd name="adj" fmla="val 5106"/>
            </a:avLst>
          </a:prstGeom>
          <a:solidFill>
            <a:srgbClr val="242A2F"/>
          </a:solidFill>
          <a:ln w="9525">
            <a:solidFill>
              <a:srgbClr val="3A4046"/>
            </a:solidFill>
            <a:prstDash val="solid"/>
          </a:ln>
        </p:spPr>
      </p:sp>
      <p:sp>
        <p:nvSpPr>
          <p:cNvPr id="10" name="card head Velocity caps set the rating"/>
          <p:cNvSpPr txBox="1"/>
          <p:nvPr/>
        </p:nvSpPr>
        <p:spPr>
          <a:xfrm>
            <a:off x="6400800" y="1755648"/>
            <a:ext cx="5029200" cy="347472"/>
          </a:xfrm>
          <a:prstGeom prst="rect">
            <a:avLst/>
          </a:prstGeom>
          <a:noFill/>
          <a:ln/>
        </p:spPr>
        <p:txBody>
          <a:bodyPr wrap="square" lIns="0" tIns="0" rIns="0" bIns="0" rtlCol="0" anchor="t"/>
          <a:lstStyle/>
          <a:p>
            <a:pPr indent="0" marL="0">
              <a:buNone/>
            </a:pPr>
            <a:r>
              <a:rPr lang="en-US" sz="1400" b="1" dirty="0">
                <a:solidFill>
                  <a:srgbClr val="D08A5E"/>
                </a:solidFill>
              </a:rPr>
              <a:t>Velocity caps set the rating</a:t>
            </a:r>
            <a:endParaRPr lang="en-US" sz="1400" dirty="0"/>
          </a:p>
        </p:txBody>
      </p:sp>
      <p:sp>
        <p:nvSpPr>
          <p:cNvPr id="11" name="card body Velocity caps set the rating"/>
          <p:cNvSpPr txBox="1"/>
          <p:nvPr/>
        </p:nvSpPr>
        <p:spPr>
          <a:xfrm>
            <a:off x="6400800" y="2121408"/>
            <a:ext cx="5029200" cy="1581912"/>
          </a:xfrm>
          <a:prstGeom prst="rect">
            <a:avLst/>
          </a:prstGeom>
          <a:noFill/>
          <a:ln/>
        </p:spPr>
        <p:txBody>
          <a:bodyPr wrap="square" lIns="0" tIns="0" rIns="0" bIns="0" rtlCol="0" anchor="t"/>
          <a:lstStyle/>
          <a:p>
            <a:pPr indent="0" marL="0">
              <a:buNone/>
            </a:pPr>
            <a:r>
              <a:rPr lang="en-US" sz="1100" dirty="0">
                <a:solidFill>
                  <a:srgbClr val="C9C4BB"/>
                </a:solidFill>
              </a:rPr>
              <a:t>Meter orifices 1.54 m/s at 18 LPM, capped at 2.0 m/s, reached at 23.4 LPM: that cap, not thermal capacity, sets the 19.5 kW rating. Ports 0.95 m/s, arches 0.93, plenum 0.62, fin tops at or below 0.5 (E2 pass criterion), fin channels 0.20 m/s at Reynolds 44.</a:t>
            </a:r>
            <a:endParaRPr lang="en-US" sz="1100" dirty="0"/>
          </a:p>
        </p:txBody>
      </p:sp>
      <p:sp>
        <p:nvSpPr>
          <p:cNvPr id="12" name="card The governing defect"/>
          <p:cNvSpPr/>
          <p:nvPr/>
        </p:nvSpPr>
        <p:spPr>
          <a:xfrm>
            <a:off x="548640" y="3931920"/>
            <a:ext cx="5394960" cy="2148840"/>
          </a:xfrm>
          <a:prstGeom prst="roundRect">
            <a:avLst>
              <a:gd name="adj" fmla="val 5106"/>
            </a:avLst>
          </a:prstGeom>
          <a:solidFill>
            <a:srgbClr val="242A2F"/>
          </a:solidFill>
          <a:ln w="9525">
            <a:solidFill>
              <a:srgbClr val="3A4046"/>
            </a:solidFill>
            <a:prstDash val="solid"/>
          </a:ln>
        </p:spPr>
      </p:sp>
      <p:sp>
        <p:nvSpPr>
          <p:cNvPr id="13" name="card head The governing defect"/>
          <p:cNvSpPr txBox="1"/>
          <p:nvPr/>
        </p:nvSpPr>
        <p:spPr>
          <a:xfrm>
            <a:off x="731520" y="4041648"/>
            <a:ext cx="5029200" cy="347472"/>
          </a:xfrm>
          <a:prstGeom prst="rect">
            <a:avLst/>
          </a:prstGeom>
          <a:noFill/>
          <a:ln/>
        </p:spPr>
        <p:txBody>
          <a:bodyPr wrap="square" lIns="0" tIns="0" rIns="0" bIns="0" rtlCol="0" anchor="t"/>
          <a:lstStyle/>
          <a:p>
            <a:pPr indent="0" marL="0">
              <a:buNone/>
            </a:pPr>
            <a:r>
              <a:rPr lang="en-US" sz="1400" b="1" dirty="0">
                <a:solidFill>
                  <a:srgbClr val="D08A5E"/>
                </a:solidFill>
              </a:rPr>
              <a:t>The governing defect</a:t>
            </a:r>
            <a:endParaRPr lang="en-US" sz="1400" dirty="0"/>
          </a:p>
        </p:txBody>
      </p:sp>
      <p:sp>
        <p:nvSpPr>
          <p:cNvPr id="14" name="card body The governing defect"/>
          <p:cNvSpPr txBox="1"/>
          <p:nvPr/>
        </p:nvSpPr>
        <p:spPr>
          <a:xfrm>
            <a:off x="731520" y="4407408"/>
            <a:ext cx="5029200" cy="1581912"/>
          </a:xfrm>
          <a:prstGeom prst="rect">
            <a:avLst/>
          </a:prstGeom>
          <a:noFill/>
          <a:ln/>
        </p:spPr>
        <p:txBody>
          <a:bodyPr wrap="square" lIns="0" tIns="0" rIns="0" bIns="0" rtlCol="0" anchor="t"/>
          <a:lstStyle/>
          <a:p>
            <a:pPr indent="0" marL="0">
              <a:buNone/>
            </a:pPr>
            <a:r>
              <a:rPr lang="en-US" sz="1100" dirty="0">
                <a:solidFill>
                  <a:srgbClr val="C9C4BB"/>
                </a:solidFill>
              </a:rPr>
              <a:t>One unbonded land strip between kerfs stays leak-tight at working pressure but collapses at 1.8 to 2.6 MPa, below design burst. At proof it bulges about 2 µm, which the 1 µm confocal scan sees; at a 1.0 mm base it bulged 0.6 µm and was invisible. The 0.85 mm base is gated on experiment E1 showing per-strip detection; the fallback costs 0.7 K.</a:t>
            </a:r>
            <a:endParaRPr lang="en-US" sz="1100" dirty="0"/>
          </a:p>
        </p:txBody>
      </p:sp>
      <p:sp>
        <p:nvSpPr>
          <p:cNvPr id="15" name="card Uniformity and bow"/>
          <p:cNvSpPr/>
          <p:nvPr/>
        </p:nvSpPr>
        <p:spPr>
          <a:xfrm>
            <a:off x="6217920" y="3931920"/>
            <a:ext cx="5394960" cy="2148840"/>
          </a:xfrm>
          <a:prstGeom prst="roundRect">
            <a:avLst>
              <a:gd name="adj" fmla="val 5106"/>
            </a:avLst>
          </a:prstGeom>
          <a:solidFill>
            <a:srgbClr val="242A2F"/>
          </a:solidFill>
          <a:ln w="9525">
            <a:solidFill>
              <a:srgbClr val="3A4046"/>
            </a:solidFill>
            <a:prstDash val="solid"/>
          </a:ln>
        </p:spPr>
      </p:sp>
      <p:sp>
        <p:nvSpPr>
          <p:cNvPr id="16" name="card head Uniformity and bow"/>
          <p:cNvSpPr txBox="1"/>
          <p:nvPr/>
        </p:nvSpPr>
        <p:spPr>
          <a:xfrm>
            <a:off x="6400800" y="4041648"/>
            <a:ext cx="5029200" cy="347472"/>
          </a:xfrm>
          <a:prstGeom prst="rect">
            <a:avLst/>
          </a:prstGeom>
          <a:noFill/>
          <a:ln/>
        </p:spPr>
        <p:txBody>
          <a:bodyPr wrap="square" lIns="0" tIns="0" rIns="0" bIns="0" rtlCol="0" anchor="t"/>
          <a:lstStyle/>
          <a:p>
            <a:pPr indent="0" marL="0">
              <a:buNone/>
            </a:pPr>
            <a:r>
              <a:rPr lang="en-US" sz="1400" b="1" dirty="0">
                <a:solidFill>
                  <a:srgbClr val="D08A5E"/>
                </a:solidFill>
              </a:rPr>
              <a:t>Uniformity and bow</a:t>
            </a:r>
            <a:endParaRPr lang="en-US" sz="1400" dirty="0"/>
          </a:p>
        </p:txBody>
      </p:sp>
      <p:sp>
        <p:nvSpPr>
          <p:cNvPr id="17" name="card body Uniformity and bow"/>
          <p:cNvSpPr txBox="1"/>
          <p:nvPr/>
        </p:nvSpPr>
        <p:spPr>
          <a:xfrm>
            <a:off x="6400800" y="4407408"/>
            <a:ext cx="5029200" cy="1581912"/>
          </a:xfrm>
          <a:prstGeom prst="rect">
            <a:avLst/>
          </a:prstGeom>
          <a:noFill/>
          <a:ln/>
        </p:spPr>
        <p:txBody>
          <a:bodyPr wrap="square" lIns="0" tIns="0" rIns="0" bIns="0" rtlCol="0" anchor="t"/>
          <a:lstStyle/>
          <a:p>
            <a:pPr indent="0" marL="0">
              <a:buNone/>
            </a:pPr>
            <a:r>
              <a:rPr lang="en-US" sz="1100" dirty="0">
                <a:solidFill>
                  <a:srgbClr val="C9C4BB"/>
                </a:solidFill>
              </a:rPr>
              <a:t>Along-plenum max/min 1.06, line 1.03, segment 1.06 to 1.09; the weakest segment runs 0.4 K hot against a 1.5 K allowance. Under the 2 kN test clamp the plate bows 23 µm concave and the hot base bows 19 µm convex: they cancel, and the die face is cut 0 to 10 µm concave so corners never lift hot.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MANUFACTURING</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One furnace cycle, sixteen critical characteristics, every plate tested</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13</a:t>
            </a:r>
            <a:endParaRPr lang="en-US" sz="900" dirty="0"/>
          </a:p>
        </p:txBody>
      </p:sp>
      <p:sp>
        <p:nvSpPr>
          <p:cNvPr id="6" name="step 1"/>
          <p:cNvSpPr/>
          <p:nvPr/>
        </p:nvSpPr>
        <p:spPr>
          <a:xfrm>
            <a:off x="548640" y="1645920"/>
            <a:ext cx="2651760" cy="1005840"/>
          </a:xfrm>
          <a:prstGeom prst="roundRect">
            <a:avLst>
              <a:gd name="adj" fmla="val 9091"/>
            </a:avLst>
          </a:prstGeom>
          <a:solidFill>
            <a:srgbClr val="F7F5F1"/>
          </a:solidFill>
          <a:ln w="9525">
            <a:solidFill>
              <a:srgbClr val="DDD8CF"/>
            </a:solidFill>
            <a:prstDash val="solid"/>
          </a:ln>
        </p:spPr>
      </p:sp>
      <p:sp>
        <p:nvSpPr>
          <p:cNvPr id="7" name="text"/>
          <p:cNvSpPr txBox="1"/>
          <p:nvPr/>
        </p:nvSpPr>
        <p:spPr>
          <a:xfrm>
            <a:off x="685800" y="1737360"/>
            <a:ext cx="457200" cy="274320"/>
          </a:xfrm>
          <a:prstGeom prst="rect">
            <a:avLst/>
          </a:prstGeom>
          <a:noFill/>
          <a:ln/>
        </p:spPr>
        <p:txBody>
          <a:bodyPr wrap="square" lIns="0" tIns="0" rIns="0" bIns="0" rtlCol="0" anchor="t"/>
          <a:lstStyle/>
          <a:p>
            <a:pPr indent="0" marL="0">
              <a:buNone/>
            </a:pPr>
            <a:r>
              <a:rPr lang="en-US" sz="1300" b="1" dirty="0">
                <a:solidFill>
                  <a:srgbClr val="B4643A"/>
                </a:solidFill>
              </a:rPr>
              <a:t>1</a:t>
            </a:r>
            <a:endParaRPr lang="en-US" sz="1300" dirty="0"/>
          </a:p>
        </p:txBody>
      </p:sp>
      <p:sp>
        <p:nvSpPr>
          <p:cNvPr id="8" name="text"/>
          <p:cNvSpPr txBox="1"/>
          <p:nvPr/>
        </p:nvSpPr>
        <p:spPr>
          <a:xfrm>
            <a:off x="685800" y="2011680"/>
            <a:ext cx="2377440" cy="594360"/>
          </a:xfrm>
          <a:prstGeom prst="rect">
            <a:avLst/>
          </a:prstGeom>
          <a:noFill/>
          <a:ln/>
        </p:spPr>
        <p:txBody>
          <a:bodyPr wrap="square" lIns="0" tIns="0" rIns="0" bIns="0" rtlCol="0" anchor="t"/>
          <a:lstStyle/>
          <a:p>
            <a:pPr indent="0" marL="0">
              <a:buNone/>
            </a:pPr>
            <a:r>
              <a:rPr lang="en-US" sz="1050" dirty="0">
                <a:solidFill>
                  <a:srgbClr val="15191C"/>
                </a:solidFill>
              </a:rPr>
              <a:t>Skive the core from a 4.3 mm OFE blank</a:t>
            </a:r>
            <a:endParaRPr lang="en-US" sz="1050" dirty="0"/>
          </a:p>
        </p:txBody>
      </p:sp>
      <p:sp>
        <p:nvSpPr>
          <p:cNvPr id="9" name="step 2"/>
          <p:cNvSpPr/>
          <p:nvPr/>
        </p:nvSpPr>
        <p:spPr>
          <a:xfrm>
            <a:off x="3383280" y="1645920"/>
            <a:ext cx="2651760" cy="1005840"/>
          </a:xfrm>
          <a:prstGeom prst="roundRect">
            <a:avLst>
              <a:gd name="adj" fmla="val 9091"/>
            </a:avLst>
          </a:prstGeom>
          <a:solidFill>
            <a:srgbClr val="F7F5F1"/>
          </a:solidFill>
          <a:ln w="9525">
            <a:solidFill>
              <a:srgbClr val="DDD8CF"/>
            </a:solidFill>
            <a:prstDash val="solid"/>
          </a:ln>
        </p:spPr>
      </p:sp>
      <p:sp>
        <p:nvSpPr>
          <p:cNvPr id="10" name="text"/>
          <p:cNvSpPr txBox="1"/>
          <p:nvPr/>
        </p:nvSpPr>
        <p:spPr>
          <a:xfrm>
            <a:off x="3520440" y="1737360"/>
            <a:ext cx="457200" cy="274320"/>
          </a:xfrm>
          <a:prstGeom prst="rect">
            <a:avLst/>
          </a:prstGeom>
          <a:noFill/>
          <a:ln/>
        </p:spPr>
        <p:txBody>
          <a:bodyPr wrap="square" lIns="0" tIns="0" rIns="0" bIns="0" rtlCol="0" anchor="t"/>
          <a:lstStyle/>
          <a:p>
            <a:pPr indent="0" marL="0">
              <a:buNone/>
            </a:pPr>
            <a:r>
              <a:rPr lang="en-US" sz="1300" b="1" dirty="0">
                <a:solidFill>
                  <a:srgbClr val="B4643A"/>
                </a:solidFill>
              </a:rPr>
              <a:t>2</a:t>
            </a:r>
            <a:endParaRPr lang="en-US" sz="1300" dirty="0"/>
          </a:p>
        </p:txBody>
      </p:sp>
      <p:sp>
        <p:nvSpPr>
          <p:cNvPr id="11" name="text"/>
          <p:cNvSpPr txBox="1"/>
          <p:nvPr/>
        </p:nvSpPr>
        <p:spPr>
          <a:xfrm>
            <a:off x="3520440" y="2011680"/>
            <a:ext cx="2377440" cy="594360"/>
          </a:xfrm>
          <a:prstGeom prst="rect">
            <a:avLst/>
          </a:prstGeom>
          <a:noFill/>
          <a:ln/>
        </p:spPr>
        <p:txBody>
          <a:bodyPr wrap="square" lIns="0" tIns="0" rIns="0" bIns="0" rtlCol="0" anchor="t"/>
          <a:lstStyle/>
          <a:p>
            <a:pPr indent="0" marL="0">
              <a:buNone/>
            </a:pPr>
            <a:r>
              <a:rPr lang="en-US" sz="1050" dirty="0">
                <a:solidFill>
                  <a:srgbClr val="15191C"/>
                </a:solidFill>
              </a:rPr>
              <a:t>Pot, gang-saw 15 kerfs, plane the tip plane to ±20 µm</a:t>
            </a:r>
            <a:endParaRPr lang="en-US" sz="1050" dirty="0"/>
          </a:p>
        </p:txBody>
      </p:sp>
      <p:sp>
        <p:nvSpPr>
          <p:cNvPr id="12" name="step 3"/>
          <p:cNvSpPr/>
          <p:nvPr/>
        </p:nvSpPr>
        <p:spPr>
          <a:xfrm>
            <a:off x="6217920" y="1645920"/>
            <a:ext cx="2651760" cy="1005840"/>
          </a:xfrm>
          <a:prstGeom prst="roundRect">
            <a:avLst>
              <a:gd name="adj" fmla="val 9091"/>
            </a:avLst>
          </a:prstGeom>
          <a:solidFill>
            <a:srgbClr val="F7F5F1"/>
          </a:solidFill>
          <a:ln w="9525">
            <a:solidFill>
              <a:srgbClr val="DDD8CF"/>
            </a:solidFill>
            <a:prstDash val="solid"/>
          </a:ln>
        </p:spPr>
      </p:sp>
      <p:sp>
        <p:nvSpPr>
          <p:cNvPr id="13" name="text"/>
          <p:cNvSpPr txBox="1"/>
          <p:nvPr/>
        </p:nvSpPr>
        <p:spPr>
          <a:xfrm>
            <a:off x="6355080" y="1737360"/>
            <a:ext cx="457200" cy="274320"/>
          </a:xfrm>
          <a:prstGeom prst="rect">
            <a:avLst/>
          </a:prstGeom>
          <a:noFill/>
          <a:ln/>
        </p:spPr>
        <p:txBody>
          <a:bodyPr wrap="square" lIns="0" tIns="0" rIns="0" bIns="0" rtlCol="0" anchor="t"/>
          <a:lstStyle/>
          <a:p>
            <a:pPr indent="0" marL="0">
              <a:buNone/>
            </a:pPr>
            <a:r>
              <a:rPr lang="en-US" sz="1300" b="1" dirty="0">
                <a:solidFill>
                  <a:srgbClr val="B4643A"/>
                </a:solidFill>
              </a:rPr>
              <a:t>3</a:t>
            </a:r>
            <a:endParaRPr lang="en-US" sz="1300" dirty="0"/>
          </a:p>
        </p:txBody>
      </p:sp>
      <p:sp>
        <p:nvSpPr>
          <p:cNvPr id="14" name="text"/>
          <p:cNvSpPr txBox="1"/>
          <p:nvPr/>
        </p:nvSpPr>
        <p:spPr>
          <a:xfrm>
            <a:off x="6355080" y="2011680"/>
            <a:ext cx="2377440" cy="594360"/>
          </a:xfrm>
          <a:prstGeom prst="rect">
            <a:avLst/>
          </a:prstGeom>
          <a:noFill/>
          <a:ln/>
        </p:spPr>
        <p:txBody>
          <a:bodyPr wrap="square" lIns="0" tIns="0" rIns="0" bIns="0" rtlCol="0" anchor="t"/>
          <a:lstStyle/>
          <a:p>
            <a:pPr indent="0" marL="0">
              <a:buNone/>
            </a:pPr>
            <a:r>
              <a:rPr lang="en-US" sz="1050" dirty="0">
                <a:solidFill>
                  <a:srgbClr val="15191C"/>
                </a:solidFill>
              </a:rPr>
              <a:t>Mill and groove the land plate; laser and electropolish the web</a:t>
            </a:r>
            <a:endParaRPr lang="en-US" sz="1050" dirty="0"/>
          </a:p>
        </p:txBody>
      </p:sp>
      <p:sp>
        <p:nvSpPr>
          <p:cNvPr id="15" name="step 4"/>
          <p:cNvSpPr/>
          <p:nvPr/>
        </p:nvSpPr>
        <p:spPr>
          <a:xfrm>
            <a:off x="9052560" y="1645920"/>
            <a:ext cx="2651760" cy="1005840"/>
          </a:xfrm>
          <a:prstGeom prst="roundRect">
            <a:avLst>
              <a:gd name="adj" fmla="val 9091"/>
            </a:avLst>
          </a:prstGeom>
          <a:solidFill>
            <a:srgbClr val="F7F5F1"/>
          </a:solidFill>
          <a:ln w="9525">
            <a:solidFill>
              <a:srgbClr val="DDD8CF"/>
            </a:solidFill>
            <a:prstDash val="solid"/>
          </a:ln>
        </p:spPr>
      </p:sp>
      <p:sp>
        <p:nvSpPr>
          <p:cNvPr id="16" name="text"/>
          <p:cNvSpPr txBox="1"/>
          <p:nvPr/>
        </p:nvSpPr>
        <p:spPr>
          <a:xfrm>
            <a:off x="9189720" y="1737360"/>
            <a:ext cx="457200" cy="274320"/>
          </a:xfrm>
          <a:prstGeom prst="rect">
            <a:avLst/>
          </a:prstGeom>
          <a:noFill/>
          <a:ln/>
        </p:spPr>
        <p:txBody>
          <a:bodyPr wrap="square" lIns="0" tIns="0" rIns="0" bIns="0" rtlCol="0" anchor="t"/>
          <a:lstStyle/>
          <a:p>
            <a:pPr indent="0" marL="0">
              <a:buNone/>
            </a:pPr>
            <a:r>
              <a:rPr lang="en-US" sz="1300" b="1" dirty="0">
                <a:solidFill>
                  <a:srgbClr val="B4643A"/>
                </a:solidFill>
              </a:rPr>
              <a:t>4</a:t>
            </a:r>
            <a:endParaRPr lang="en-US" sz="1300" dirty="0"/>
          </a:p>
        </p:txBody>
      </p:sp>
      <p:sp>
        <p:nvSpPr>
          <p:cNvPr id="17" name="text"/>
          <p:cNvSpPr txBox="1"/>
          <p:nvPr/>
        </p:nvSpPr>
        <p:spPr>
          <a:xfrm>
            <a:off x="9189720" y="2011680"/>
            <a:ext cx="2377440" cy="594360"/>
          </a:xfrm>
          <a:prstGeom prst="rect">
            <a:avLst/>
          </a:prstGeom>
          <a:noFill/>
          <a:ln/>
        </p:spPr>
        <p:txBody>
          <a:bodyPr wrap="square" lIns="0" tIns="0" rIns="0" bIns="0" rtlCol="0" anchor="t"/>
          <a:lstStyle/>
          <a:p>
            <a:pPr indent="0" marL="0">
              <a:buNone/>
            </a:pPr>
            <a:r>
              <a:rPr lang="en-US" sz="1050" dirty="0">
                <a:solidFill>
                  <a:srgbClr val="15191C"/>
                </a:solidFill>
              </a:rPr>
              <a:t>Fold the plenum, laser the separator, draw the cap</a:t>
            </a:r>
            <a:endParaRPr lang="en-US" sz="1050" dirty="0"/>
          </a:p>
        </p:txBody>
      </p:sp>
      <p:sp>
        <p:nvSpPr>
          <p:cNvPr id="18" name="step 5"/>
          <p:cNvSpPr/>
          <p:nvPr/>
        </p:nvSpPr>
        <p:spPr>
          <a:xfrm>
            <a:off x="548640" y="2788920"/>
            <a:ext cx="2651760" cy="1005840"/>
          </a:xfrm>
          <a:prstGeom prst="roundRect">
            <a:avLst>
              <a:gd name="adj" fmla="val 9091"/>
            </a:avLst>
          </a:prstGeom>
          <a:solidFill>
            <a:srgbClr val="F7F5F1"/>
          </a:solidFill>
          <a:ln w="9525">
            <a:solidFill>
              <a:srgbClr val="DDD8CF"/>
            </a:solidFill>
            <a:prstDash val="solid"/>
          </a:ln>
        </p:spPr>
      </p:sp>
      <p:sp>
        <p:nvSpPr>
          <p:cNvPr id="19" name="text"/>
          <p:cNvSpPr txBox="1"/>
          <p:nvPr/>
        </p:nvSpPr>
        <p:spPr>
          <a:xfrm>
            <a:off x="685800" y="2880360"/>
            <a:ext cx="457200" cy="274320"/>
          </a:xfrm>
          <a:prstGeom prst="rect">
            <a:avLst/>
          </a:prstGeom>
          <a:noFill/>
          <a:ln/>
        </p:spPr>
        <p:txBody>
          <a:bodyPr wrap="square" lIns="0" tIns="0" rIns="0" bIns="0" rtlCol="0" anchor="t"/>
          <a:lstStyle/>
          <a:p>
            <a:pPr indent="0" marL="0">
              <a:buNone/>
            </a:pPr>
            <a:r>
              <a:rPr lang="en-US" sz="1300" b="1" dirty="0">
                <a:solidFill>
                  <a:srgbClr val="B4643A"/>
                </a:solidFill>
              </a:rPr>
              <a:t>5</a:t>
            </a:r>
            <a:endParaRPr lang="en-US" sz="1300" dirty="0"/>
          </a:p>
        </p:txBody>
      </p:sp>
      <p:sp>
        <p:nvSpPr>
          <p:cNvPr id="20" name="text"/>
          <p:cNvSpPr txBox="1"/>
          <p:nvPr/>
        </p:nvSpPr>
        <p:spPr>
          <a:xfrm>
            <a:off x="685800" y="3154680"/>
            <a:ext cx="2377440" cy="594360"/>
          </a:xfrm>
          <a:prstGeom prst="rect">
            <a:avLst/>
          </a:prstGeom>
          <a:noFill/>
          <a:ln/>
        </p:spPr>
        <p:txBody>
          <a:bodyPr wrap="square" lIns="0" tIns="0" rIns="0" bIns="0" rtlCol="0" anchor="t"/>
          <a:lstStyle/>
          <a:p>
            <a:pPr indent="0" marL="0">
              <a:buNone/>
            </a:pPr>
            <a:r>
              <a:rPr lang="en-US" sz="1050" dirty="0">
                <a:solidFill>
                  <a:srgbClr val="15191C"/>
                </a:solidFill>
              </a:rPr>
              <a:t>Stack on 2 pins with etched BAg-8 foils; vacuum braze 795 °C, 60 per load</a:t>
            </a:r>
            <a:endParaRPr lang="en-US" sz="1050" dirty="0"/>
          </a:p>
        </p:txBody>
      </p:sp>
      <p:sp>
        <p:nvSpPr>
          <p:cNvPr id="21" name="step 6"/>
          <p:cNvSpPr/>
          <p:nvPr/>
        </p:nvSpPr>
        <p:spPr>
          <a:xfrm>
            <a:off x="3383280" y="2788920"/>
            <a:ext cx="2651760" cy="1005840"/>
          </a:xfrm>
          <a:prstGeom prst="roundRect">
            <a:avLst>
              <a:gd name="adj" fmla="val 9091"/>
            </a:avLst>
          </a:prstGeom>
          <a:solidFill>
            <a:srgbClr val="F7F5F1"/>
          </a:solidFill>
          <a:ln w="9525">
            <a:solidFill>
              <a:srgbClr val="DDD8CF"/>
            </a:solidFill>
            <a:prstDash val="solid"/>
          </a:ln>
        </p:spPr>
      </p:sp>
      <p:sp>
        <p:nvSpPr>
          <p:cNvPr id="22" name="text"/>
          <p:cNvSpPr txBox="1"/>
          <p:nvPr/>
        </p:nvSpPr>
        <p:spPr>
          <a:xfrm>
            <a:off x="3520440" y="2880360"/>
            <a:ext cx="457200" cy="274320"/>
          </a:xfrm>
          <a:prstGeom prst="rect">
            <a:avLst/>
          </a:prstGeom>
          <a:noFill/>
          <a:ln/>
        </p:spPr>
        <p:txBody>
          <a:bodyPr wrap="square" lIns="0" tIns="0" rIns="0" bIns="0" rtlCol="0" anchor="t"/>
          <a:lstStyle/>
          <a:p>
            <a:pPr indent="0" marL="0">
              <a:buNone/>
            </a:pPr>
            <a:r>
              <a:rPr lang="en-US" sz="1300" b="1" dirty="0">
                <a:solidFill>
                  <a:srgbClr val="B4643A"/>
                </a:solidFill>
              </a:rPr>
              <a:t>6</a:t>
            </a:r>
            <a:endParaRPr lang="en-US" sz="1300" dirty="0"/>
          </a:p>
        </p:txBody>
      </p:sp>
      <p:sp>
        <p:nvSpPr>
          <p:cNvPr id="23" name="text"/>
          <p:cNvSpPr txBox="1"/>
          <p:nvPr/>
        </p:nvSpPr>
        <p:spPr>
          <a:xfrm>
            <a:off x="3520440" y="3154680"/>
            <a:ext cx="2377440" cy="594360"/>
          </a:xfrm>
          <a:prstGeom prst="rect">
            <a:avLst/>
          </a:prstGeom>
          <a:noFill/>
          <a:ln/>
        </p:spPr>
        <p:txBody>
          <a:bodyPr wrap="square" lIns="0" tIns="0" rIns="0" bIns="0" rtlCol="0" anchor="t"/>
          <a:lstStyle/>
          <a:p>
            <a:pPr indent="0" marL="0">
              <a:buNone/>
            </a:pPr>
            <a:r>
              <a:rPr lang="en-US" sz="1050" dirty="0">
                <a:solidFill>
                  <a:srgbClr val="15191C"/>
                </a:solidFill>
              </a:rPr>
              <a:t>Helium leak test dry; infrared flow screen</a:t>
            </a:r>
            <a:endParaRPr lang="en-US" sz="1050" dirty="0"/>
          </a:p>
        </p:txBody>
      </p:sp>
      <p:sp>
        <p:nvSpPr>
          <p:cNvPr id="24" name="step 7"/>
          <p:cNvSpPr/>
          <p:nvPr/>
        </p:nvSpPr>
        <p:spPr>
          <a:xfrm>
            <a:off x="6217920" y="2788920"/>
            <a:ext cx="2651760" cy="1005840"/>
          </a:xfrm>
          <a:prstGeom prst="roundRect">
            <a:avLst>
              <a:gd name="adj" fmla="val 9091"/>
            </a:avLst>
          </a:prstGeom>
          <a:solidFill>
            <a:srgbClr val="F7F5F1"/>
          </a:solidFill>
          <a:ln w="9525">
            <a:solidFill>
              <a:srgbClr val="DDD8CF"/>
            </a:solidFill>
            <a:prstDash val="solid"/>
          </a:ln>
        </p:spPr>
      </p:sp>
      <p:sp>
        <p:nvSpPr>
          <p:cNvPr id="25" name="text"/>
          <p:cNvSpPr txBox="1"/>
          <p:nvPr/>
        </p:nvSpPr>
        <p:spPr>
          <a:xfrm>
            <a:off x="6355080" y="2880360"/>
            <a:ext cx="457200" cy="274320"/>
          </a:xfrm>
          <a:prstGeom prst="rect">
            <a:avLst/>
          </a:prstGeom>
          <a:noFill/>
          <a:ln/>
        </p:spPr>
        <p:txBody>
          <a:bodyPr wrap="square" lIns="0" tIns="0" rIns="0" bIns="0" rtlCol="0" anchor="t"/>
          <a:lstStyle/>
          <a:p>
            <a:pPr indent="0" marL="0">
              <a:buNone/>
            </a:pPr>
            <a:r>
              <a:rPr lang="en-US" sz="1300" b="1" dirty="0">
                <a:solidFill>
                  <a:srgbClr val="B4643A"/>
                </a:solidFill>
              </a:rPr>
              <a:t>7</a:t>
            </a:r>
            <a:endParaRPr lang="en-US" sz="1300" dirty="0"/>
          </a:p>
        </p:txBody>
      </p:sp>
      <p:sp>
        <p:nvSpPr>
          <p:cNvPr id="26" name="text"/>
          <p:cNvSpPr txBox="1"/>
          <p:nvPr/>
        </p:nvSpPr>
        <p:spPr>
          <a:xfrm>
            <a:off x="6355080" y="3154680"/>
            <a:ext cx="2377440" cy="594360"/>
          </a:xfrm>
          <a:prstGeom prst="rect">
            <a:avLst/>
          </a:prstGeom>
          <a:noFill/>
          <a:ln/>
        </p:spPr>
        <p:txBody>
          <a:bodyPr wrap="square" lIns="0" tIns="0" rIns="0" bIns="0" rtlCol="0" anchor="t"/>
          <a:lstStyle/>
          <a:p>
            <a:pPr indent="0" marL="0">
              <a:buNone/>
            </a:pPr>
            <a:r>
              <a:rPr lang="en-US" sz="1050" dirty="0">
                <a:solidFill>
                  <a:srgbClr val="15191C"/>
                </a:solidFill>
              </a:rPr>
              <a:t>Fly-cut the die face to 0.85 mm with in-line ultrasonic gauge</a:t>
            </a:r>
            <a:endParaRPr lang="en-US" sz="1050" dirty="0"/>
          </a:p>
        </p:txBody>
      </p:sp>
      <p:sp>
        <p:nvSpPr>
          <p:cNvPr id="27" name="step 8"/>
          <p:cNvSpPr/>
          <p:nvPr/>
        </p:nvSpPr>
        <p:spPr>
          <a:xfrm>
            <a:off x="9052560" y="2788920"/>
            <a:ext cx="2651760" cy="1005840"/>
          </a:xfrm>
          <a:prstGeom prst="roundRect">
            <a:avLst>
              <a:gd name="adj" fmla="val 9091"/>
            </a:avLst>
          </a:prstGeom>
          <a:solidFill>
            <a:srgbClr val="F7F5F1"/>
          </a:solidFill>
          <a:ln w="9525">
            <a:solidFill>
              <a:srgbClr val="DDD8CF"/>
            </a:solidFill>
            <a:prstDash val="solid"/>
          </a:ln>
        </p:spPr>
      </p:sp>
      <p:sp>
        <p:nvSpPr>
          <p:cNvPr id="28" name="text"/>
          <p:cNvSpPr txBox="1"/>
          <p:nvPr/>
        </p:nvSpPr>
        <p:spPr>
          <a:xfrm>
            <a:off x="9189720" y="2880360"/>
            <a:ext cx="457200" cy="274320"/>
          </a:xfrm>
          <a:prstGeom prst="rect">
            <a:avLst/>
          </a:prstGeom>
          <a:noFill/>
          <a:ln/>
        </p:spPr>
        <p:txBody>
          <a:bodyPr wrap="square" lIns="0" tIns="0" rIns="0" bIns="0" rtlCol="0" anchor="t"/>
          <a:lstStyle/>
          <a:p>
            <a:pPr indent="0" marL="0">
              <a:buNone/>
            </a:pPr>
            <a:r>
              <a:rPr lang="en-US" sz="1300" b="1" dirty="0">
                <a:solidFill>
                  <a:srgbClr val="B4643A"/>
                </a:solidFill>
              </a:rPr>
              <a:t>8</a:t>
            </a:r>
            <a:endParaRPr lang="en-US" sz="1300" dirty="0"/>
          </a:p>
        </p:txBody>
      </p:sp>
      <p:sp>
        <p:nvSpPr>
          <p:cNvPr id="29" name="text"/>
          <p:cNvSpPr txBox="1"/>
          <p:nvPr/>
        </p:nvSpPr>
        <p:spPr>
          <a:xfrm>
            <a:off x="9189720" y="3154680"/>
            <a:ext cx="2377440" cy="594360"/>
          </a:xfrm>
          <a:prstGeom prst="rect">
            <a:avLst/>
          </a:prstGeom>
          <a:noFill/>
          <a:ln/>
        </p:spPr>
        <p:txBody>
          <a:bodyPr wrap="square" lIns="0" tIns="0" rIns="0" bIns="0" rtlCol="0" anchor="t"/>
          <a:lstStyle/>
          <a:p>
            <a:pPr indent="0" marL="0">
              <a:buNone/>
            </a:pPr>
            <a:r>
              <a:rPr lang="en-US" sz="1050" dirty="0">
                <a:solidFill>
                  <a:srgbClr val="15191C"/>
                </a:solidFill>
              </a:rPr>
              <a:t>Flush, proof with bulge scan, dP at 3 flows, bake, N₂ pack</a:t>
            </a:r>
            <a:endParaRPr lang="en-US" sz="1050" dirty="0"/>
          </a:p>
        </p:txBody>
      </p:sp>
      <p:sp>
        <p:nvSpPr>
          <p:cNvPr id="30" name="card Braze fixture FIX-15"/>
          <p:cNvSpPr/>
          <p:nvPr/>
        </p:nvSpPr>
        <p:spPr>
          <a:xfrm>
            <a:off x="548640" y="4114800"/>
            <a:ext cx="5486400" cy="2011680"/>
          </a:xfrm>
          <a:prstGeom prst="roundRect">
            <a:avLst>
              <a:gd name="adj" fmla="val 5455"/>
            </a:avLst>
          </a:prstGeom>
          <a:solidFill>
            <a:srgbClr val="F7F5F1"/>
          </a:solidFill>
          <a:ln w="9525">
            <a:solidFill>
              <a:srgbClr val="DDD8CF"/>
            </a:solidFill>
            <a:prstDash val="solid"/>
          </a:ln>
        </p:spPr>
      </p:sp>
      <p:sp>
        <p:nvSpPr>
          <p:cNvPr id="31" name="card head Braze fixture FIX-15"/>
          <p:cNvSpPr txBox="1"/>
          <p:nvPr/>
        </p:nvSpPr>
        <p:spPr>
          <a:xfrm>
            <a:off x="731520" y="4224528"/>
            <a:ext cx="5120640" cy="347472"/>
          </a:xfrm>
          <a:prstGeom prst="rect">
            <a:avLst/>
          </a:prstGeom>
          <a:noFill/>
          <a:ln/>
        </p:spPr>
        <p:txBody>
          <a:bodyPr wrap="square" lIns="0" tIns="0" rIns="0" bIns="0" rtlCol="0" anchor="t"/>
          <a:lstStyle/>
          <a:p>
            <a:pPr indent="0" marL="0">
              <a:buNone/>
            </a:pPr>
            <a:r>
              <a:rPr lang="en-US" sz="1400" b="1" dirty="0">
                <a:solidFill>
                  <a:srgbClr val="15191C"/>
                </a:solidFill>
              </a:rPr>
              <a:t>Braze fixture FIX-15</a:t>
            </a:r>
            <a:endParaRPr lang="en-US" sz="1400" dirty="0"/>
          </a:p>
        </p:txBody>
      </p:sp>
      <p:sp>
        <p:nvSpPr>
          <p:cNvPr id="32" name="card body Braze fixture FIX-15"/>
          <p:cNvSpPr txBox="1"/>
          <p:nvPr/>
        </p:nvSpPr>
        <p:spPr>
          <a:xfrm>
            <a:off x="731520" y="4590288"/>
            <a:ext cx="5120640" cy="1444752"/>
          </a:xfrm>
          <a:prstGeom prst="rect">
            <a:avLst/>
          </a:prstGeom>
          <a:noFill/>
          <a:ln/>
        </p:spPr>
        <p:txBody>
          <a:bodyPr wrap="square" lIns="0" tIns="0" rIns="0" bIns="0" rtlCol="0" anchor="t"/>
          <a:lstStyle/>
          <a:p>
            <a:pPr indent="0" marL="0">
              <a:buNone/>
            </a:pPr>
            <a:r>
              <a:rPr lang="en-US" sz="1100" dirty="0">
                <a:solidFill>
                  <a:srgbClr val="4A5058"/>
                </a:solidFill>
              </a:rPr>
              <a:t>Graphite platens, four TZM tie rods and eight TZM leaf springs turn the copper stack’s extra 0.137 mm of thermal growth into 1,250 N at 795 °C: 0.08 MPa on the stack, insensitive to shim error. 9.5 kg per fixture, 60 per furnace load, 300 cycles of life. Dead weight would have been 128 kg per plate.</a:t>
            </a:r>
            <a:endParaRPr lang="en-US" sz="1100" dirty="0"/>
          </a:p>
        </p:txBody>
      </p:sp>
      <p:sp>
        <p:nvSpPr>
          <p:cNvPr id="33" name="card Inspection that finds the real failures"/>
          <p:cNvSpPr/>
          <p:nvPr/>
        </p:nvSpPr>
        <p:spPr>
          <a:xfrm>
            <a:off x="6217920" y="4114800"/>
            <a:ext cx="5394960" cy="2011680"/>
          </a:xfrm>
          <a:prstGeom prst="roundRect">
            <a:avLst>
              <a:gd name="adj" fmla="val 5455"/>
            </a:avLst>
          </a:prstGeom>
          <a:solidFill>
            <a:srgbClr val="F7F5F1"/>
          </a:solidFill>
          <a:ln w="9525">
            <a:solidFill>
              <a:srgbClr val="DDD8CF"/>
            </a:solidFill>
            <a:prstDash val="solid"/>
          </a:ln>
        </p:spPr>
      </p:sp>
      <p:sp>
        <p:nvSpPr>
          <p:cNvPr id="34" name="card head Inspection that finds the real failures"/>
          <p:cNvSpPr txBox="1"/>
          <p:nvPr/>
        </p:nvSpPr>
        <p:spPr>
          <a:xfrm>
            <a:off x="6400800" y="4224528"/>
            <a:ext cx="5029200" cy="347472"/>
          </a:xfrm>
          <a:prstGeom prst="rect">
            <a:avLst/>
          </a:prstGeom>
          <a:noFill/>
          <a:ln/>
        </p:spPr>
        <p:txBody>
          <a:bodyPr wrap="square" lIns="0" tIns="0" rIns="0" bIns="0" rtlCol="0" anchor="t"/>
          <a:lstStyle/>
          <a:p>
            <a:pPr indent="0" marL="0">
              <a:buNone/>
            </a:pPr>
            <a:r>
              <a:rPr lang="en-US" sz="1400" b="1" dirty="0">
                <a:solidFill>
                  <a:srgbClr val="15191C"/>
                </a:solidFill>
              </a:rPr>
              <a:t>Inspection that finds the real failures</a:t>
            </a:r>
            <a:endParaRPr lang="en-US" sz="1400" dirty="0"/>
          </a:p>
        </p:txBody>
      </p:sp>
      <p:sp>
        <p:nvSpPr>
          <p:cNvPr id="35" name="card body Inspection that finds the real failures"/>
          <p:cNvSpPr txBox="1"/>
          <p:nvPr/>
        </p:nvSpPr>
        <p:spPr>
          <a:xfrm>
            <a:off x="6400800" y="4590288"/>
            <a:ext cx="5029200" cy="1444752"/>
          </a:xfrm>
          <a:prstGeom prst="rect">
            <a:avLst/>
          </a:prstGeom>
          <a:noFill/>
          <a:ln/>
        </p:spPr>
        <p:txBody>
          <a:bodyPr wrap="square" lIns="0" tIns="0" rIns="0" bIns="0" rtlCol="0" anchor="t"/>
          <a:lstStyle/>
          <a:p>
            <a:pPr indent="0" marL="0">
              <a:buNone/>
            </a:pPr>
            <a:r>
              <a:rPr lang="en-US" sz="1100" dirty="0">
                <a:solidFill>
                  <a:srgbClr val="4A5058"/>
                </a:solidFill>
              </a:rPr>
              <a:t>100 % on every plate: fin thickness and pitch by vision, tip plane by laser scan, all 756 orifices by backlit vision, base thickness by ultrasonics, helium leak at 10⁻⁶ mbar·L/s, cleanliness to ISO 16232, proof with a 1 µm confocal bulge map, dP within ±10 %, infrared flow screen. By lot: CT of 1 in 200, sections of 1 in 1,000, burst 1 in 2,000.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COST</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A third more per plate, parity per kilowatt, and a silver-free route to close the gap</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14</a:t>
            </a:r>
            <a:endParaRPr lang="en-US" sz="9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6035040" cy="914400"/>
        </p:xfrm>
        <a:graphic>
          <a:graphicData uri="http://schemas.openxmlformats.org/drawingml/2006/table">
            <a:tbl>
              <a:tblPr/>
              <a:tblGrid>
                <a:gridCol w="3840480"/>
                <a:gridCol w="1097280"/>
                <a:gridCol w="1097280"/>
              </a:tblGrid>
              <a:tr h="0">
                <a:tc>
                  <a:txBody>
                    <a:bodyPr/>
                    <a:lstStyle/>
                    <a:p>
                      <a:pPr indent="0" marL="0">
                        <a:buNone/>
                      </a:pPr>
                      <a:r>
                        <a:rPr lang="en-US" sz="1100" b="1" dirty="0">
                          <a:solidFill>
                            <a:srgbClr val="15191C"/>
                          </a:solidFill>
                          <a:latin typeface="+mn-lt" pitchFamily="34" charset="0"/>
                          <a:ea typeface="+mn-lt" pitchFamily="34" charset="-122"/>
                          <a:cs typeface="+mn-lt" pitchFamily="34" charset="-120"/>
                        </a:rPr>
                        <a:t>Factory cost line, US$ per plate</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100" b="1" dirty="0">
                          <a:solidFill>
                            <a:srgbClr val="15191C"/>
                          </a:solidFill>
                          <a:latin typeface="+mn-lt" pitchFamily="34" charset="0"/>
                          <a:ea typeface="+mn-lt" pitchFamily="34" charset="-122"/>
                          <a:cs typeface="+mn-lt" pitchFamily="34" charset="-120"/>
                        </a:rPr>
                        <a:t>100k / yr</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100" b="1" dirty="0">
                          <a:solidFill>
                            <a:srgbClr val="15191C"/>
                          </a:solidFill>
                          <a:latin typeface="+mn-lt" pitchFamily="34" charset="0"/>
                          <a:ea typeface="+mn-lt" pitchFamily="34" charset="-122"/>
                          <a:cs typeface="+mn-lt" pitchFamily="34" charset="-120"/>
                        </a:rPr>
                        <a:t>10k / yr</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Copper, 1.52 kg of blanks and strip</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22.1</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25.5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Skiving, kerfing, planing, fly-cut</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28.9</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70.4</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Grate, plenum, separator, cap, bosses</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18.5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51.5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Silver filler, 5.7 g BAg-8 preforms</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14.7</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20.6</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Vacuum braze and fixtures</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17.6</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38.7</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Taps, guard, stubs, hardware, frame, tooling</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24.3</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42.3</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Test: flush, helium, proof and scan, dP, IR, bake</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11.8</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28.3</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Factory cost, P50 (direct ÷ yield × 1.12)</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165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388</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100" dirty="0">
                          <a:solidFill>
                            <a:srgbClr val="15191C"/>
                          </a:solidFill>
                          <a:latin typeface="+mn-lt" pitchFamily="34" charset="0"/>
                          <a:ea typeface="+mn-lt" pitchFamily="34" charset="-122"/>
                          <a:cs typeface="+mn-lt" pitchFamily="34" charset="-120"/>
                        </a:rPr>
                        <a:t>P10 / P90</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156 / 175</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100" dirty="0">
                          <a:solidFill>
                            <a:srgbClr val="15191C"/>
                          </a:solidFill>
                          <a:latin typeface="+mn-lt" pitchFamily="34" charset="0"/>
                          <a:ea typeface="+mn-lt" pitchFamily="34" charset="-122"/>
                          <a:cs typeface="+mn-lt" pitchFamily="34" charset="-120"/>
                        </a:rPr>
                        <a:t>361 / 427</a:t>
                      </a:r>
                      <a:endParaRPr lang="en-US" sz="11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bl>
          </a:graphicData>
        </a:graphic>
      </p:graphicFrame>
      <p:sp>
        <p:nvSpPr>
          <p:cNvPr id="7" name="tile PRISM-15 Rev A at 100k per year"/>
          <p:cNvSpPr/>
          <p:nvPr/>
        </p:nvSpPr>
        <p:spPr>
          <a:xfrm>
            <a:off x="6858000" y="1645920"/>
            <a:ext cx="2286000" cy="1188720"/>
          </a:xfrm>
          <a:prstGeom prst="roundRect">
            <a:avLst>
              <a:gd name="adj" fmla="val 9231"/>
            </a:avLst>
          </a:prstGeom>
          <a:solidFill>
            <a:srgbClr val="15191C"/>
          </a:solidFill>
          <a:ln w="9525">
            <a:solidFill>
              <a:srgbClr val="15191C"/>
            </a:solidFill>
            <a:prstDash val="solid"/>
          </a:ln>
        </p:spPr>
      </p:sp>
      <p:sp>
        <p:nvSpPr>
          <p:cNvPr id="8" name="tile value PRISM-15 Rev A at 100k per year"/>
          <p:cNvSpPr txBox="1"/>
          <p:nvPr/>
        </p:nvSpPr>
        <p:spPr>
          <a:xfrm>
            <a:off x="7040880" y="1755648"/>
            <a:ext cx="1920240" cy="653796"/>
          </a:xfrm>
          <a:prstGeom prst="rect">
            <a:avLst/>
          </a:prstGeom>
          <a:noFill/>
          <a:ln/>
        </p:spPr>
        <p:txBody>
          <a:bodyPr wrap="square" lIns="0" tIns="0" rIns="0" bIns="0" rtlCol="0" anchor="ctr"/>
          <a:lstStyle/>
          <a:p>
            <a:pPr indent="0" marL="0">
              <a:buNone/>
            </a:pPr>
            <a:r>
              <a:rPr lang="en-US" sz="2400" b="1" dirty="0">
                <a:solidFill>
                  <a:srgbClr val="F4F1EC"/>
                </a:solidFill>
              </a:rPr>
              <a:t>US$165</a:t>
            </a:r>
            <a:endParaRPr lang="en-US" sz="2400" dirty="0"/>
          </a:p>
        </p:txBody>
      </p:sp>
      <p:sp>
        <p:nvSpPr>
          <p:cNvPr id="9" name="tile label PRISM-15 Rev A at 100k per year"/>
          <p:cNvSpPr txBox="1"/>
          <p:nvPr/>
        </p:nvSpPr>
        <p:spPr>
          <a:xfrm>
            <a:off x="7040880" y="2359152"/>
            <a:ext cx="1920240" cy="451714"/>
          </a:xfrm>
          <a:prstGeom prst="rect">
            <a:avLst/>
          </a:prstGeom>
          <a:noFill/>
          <a:ln/>
        </p:spPr>
        <p:txBody>
          <a:bodyPr wrap="square" lIns="0" tIns="0" rIns="0" bIns="0" rtlCol="0" anchor="t"/>
          <a:lstStyle/>
          <a:p>
            <a:pPr indent="0" marL="0">
              <a:buNone/>
            </a:pPr>
            <a:r>
              <a:rPr lang="en-US" sz="1100" dirty="0">
                <a:solidFill>
                  <a:srgbClr val="C9C4BB"/>
                </a:solidFill>
              </a:rPr>
              <a:t>PRISM-15 Rev A at 100k per year</a:t>
            </a:r>
            <a:endParaRPr lang="en-US" sz="1100" dirty="0"/>
          </a:p>
        </p:txBody>
      </p:sp>
      <p:sp>
        <p:nvSpPr>
          <p:cNvPr id="10" name="tile like-sized split-flow plate, estimate"/>
          <p:cNvSpPr/>
          <p:nvPr/>
        </p:nvSpPr>
        <p:spPr>
          <a:xfrm>
            <a:off x="9326880" y="1645920"/>
            <a:ext cx="2286000" cy="1188720"/>
          </a:xfrm>
          <a:prstGeom prst="roundRect">
            <a:avLst>
              <a:gd name="adj" fmla="val 9231"/>
            </a:avLst>
          </a:prstGeom>
          <a:solidFill>
            <a:srgbClr val="F7F5F1"/>
          </a:solidFill>
          <a:ln w="9525">
            <a:solidFill>
              <a:srgbClr val="DDD8CF"/>
            </a:solidFill>
            <a:prstDash val="solid"/>
          </a:ln>
        </p:spPr>
      </p:sp>
      <p:sp>
        <p:nvSpPr>
          <p:cNvPr id="11" name="tile value like-sized split-flow plate, estimate"/>
          <p:cNvSpPr txBox="1"/>
          <p:nvPr/>
        </p:nvSpPr>
        <p:spPr>
          <a:xfrm>
            <a:off x="9509760" y="1755648"/>
            <a:ext cx="1920240" cy="653796"/>
          </a:xfrm>
          <a:prstGeom prst="rect">
            <a:avLst/>
          </a:prstGeom>
          <a:noFill/>
          <a:ln/>
        </p:spPr>
        <p:txBody>
          <a:bodyPr wrap="square" lIns="0" tIns="0" rIns="0" bIns="0" rtlCol="0" anchor="ctr"/>
          <a:lstStyle/>
          <a:p>
            <a:pPr indent="0" marL="0">
              <a:buNone/>
            </a:pPr>
            <a:r>
              <a:rPr lang="en-US" sz="2400" b="1" dirty="0">
                <a:solidFill>
                  <a:srgbClr val="15191C"/>
                </a:solidFill>
              </a:rPr>
              <a:t>US$126</a:t>
            </a:r>
            <a:endParaRPr lang="en-US" sz="2400" dirty="0"/>
          </a:p>
        </p:txBody>
      </p:sp>
      <p:sp>
        <p:nvSpPr>
          <p:cNvPr id="12" name="tile label like-sized split-flow plate, estimate"/>
          <p:cNvSpPr txBox="1"/>
          <p:nvPr/>
        </p:nvSpPr>
        <p:spPr>
          <a:xfrm>
            <a:off x="9509760" y="2359152"/>
            <a:ext cx="1920240" cy="451714"/>
          </a:xfrm>
          <a:prstGeom prst="rect">
            <a:avLst/>
          </a:prstGeom>
          <a:noFill/>
          <a:ln/>
        </p:spPr>
        <p:txBody>
          <a:bodyPr wrap="square" lIns="0" tIns="0" rIns="0" bIns="0" rtlCol="0" anchor="t"/>
          <a:lstStyle/>
          <a:p>
            <a:pPr indent="0" marL="0">
              <a:buNone/>
            </a:pPr>
            <a:r>
              <a:rPr lang="en-US" sz="1100" dirty="0">
                <a:solidFill>
                  <a:srgbClr val="4A5058"/>
                </a:solidFill>
              </a:rPr>
              <a:t>like-sized split-flow plate, estimate</a:t>
            </a:r>
            <a:endParaRPr lang="en-US" sz="1100" dirty="0"/>
          </a:p>
        </p:txBody>
      </p:sp>
      <p:sp>
        <p:nvSpPr>
          <p:cNvPr id="13" name="tile route C2, Cu-Sn belt braze, decided at G1"/>
          <p:cNvSpPr/>
          <p:nvPr/>
        </p:nvSpPr>
        <p:spPr>
          <a:xfrm>
            <a:off x="6858000" y="3017520"/>
            <a:ext cx="2286000" cy="1188720"/>
          </a:xfrm>
          <a:prstGeom prst="roundRect">
            <a:avLst>
              <a:gd name="adj" fmla="val 9231"/>
            </a:avLst>
          </a:prstGeom>
          <a:solidFill>
            <a:srgbClr val="F7F5F1"/>
          </a:solidFill>
          <a:ln w="9525">
            <a:solidFill>
              <a:srgbClr val="DDD8CF"/>
            </a:solidFill>
            <a:prstDash val="solid"/>
          </a:ln>
        </p:spPr>
      </p:sp>
      <p:sp>
        <p:nvSpPr>
          <p:cNvPr id="14" name="tile value route C2, Cu-Sn belt braze, decided at G1"/>
          <p:cNvSpPr txBox="1"/>
          <p:nvPr/>
        </p:nvSpPr>
        <p:spPr>
          <a:xfrm>
            <a:off x="7040880" y="3127248"/>
            <a:ext cx="1920240" cy="653796"/>
          </a:xfrm>
          <a:prstGeom prst="rect">
            <a:avLst/>
          </a:prstGeom>
          <a:noFill/>
          <a:ln/>
        </p:spPr>
        <p:txBody>
          <a:bodyPr wrap="square" lIns="0" tIns="0" rIns="0" bIns="0" rtlCol="0" anchor="ctr"/>
          <a:lstStyle/>
          <a:p>
            <a:pPr indent="0" marL="0">
              <a:buNone/>
            </a:pPr>
            <a:r>
              <a:rPr lang="en-US" sz="2400" b="1" dirty="0">
                <a:solidFill>
                  <a:srgbClr val="D08A5E"/>
                </a:solidFill>
              </a:rPr>
              <a:t>US$142</a:t>
            </a:r>
            <a:endParaRPr lang="en-US" sz="2400" dirty="0"/>
          </a:p>
        </p:txBody>
      </p:sp>
      <p:sp>
        <p:nvSpPr>
          <p:cNvPr id="15" name="tile label route C2, Cu-Sn belt braze, decided at G1"/>
          <p:cNvSpPr txBox="1"/>
          <p:nvPr/>
        </p:nvSpPr>
        <p:spPr>
          <a:xfrm>
            <a:off x="7040880" y="3730752"/>
            <a:ext cx="1920240" cy="451714"/>
          </a:xfrm>
          <a:prstGeom prst="rect">
            <a:avLst/>
          </a:prstGeom>
          <a:noFill/>
          <a:ln/>
        </p:spPr>
        <p:txBody>
          <a:bodyPr wrap="square" lIns="0" tIns="0" rIns="0" bIns="0" rtlCol="0" anchor="t"/>
          <a:lstStyle/>
          <a:p>
            <a:pPr indent="0" marL="0">
              <a:buNone/>
            </a:pPr>
            <a:r>
              <a:rPr lang="en-US" sz="1100" dirty="0">
                <a:solidFill>
                  <a:srgbClr val="4A5058"/>
                </a:solidFill>
              </a:rPr>
              <a:t>route C2, Cu-Sn belt braze, decided at G1</a:t>
            </a:r>
            <a:endParaRPr lang="en-US" sz="1100" dirty="0"/>
          </a:p>
        </p:txBody>
      </p:sp>
      <p:sp>
        <p:nvSpPr>
          <p:cNvPr id="16" name="tile per kW of pad capacity, vs US$8.5 incumbent"/>
          <p:cNvSpPr/>
          <p:nvPr/>
        </p:nvSpPr>
        <p:spPr>
          <a:xfrm>
            <a:off x="9326880" y="3017520"/>
            <a:ext cx="2286000" cy="1188720"/>
          </a:xfrm>
          <a:prstGeom prst="roundRect">
            <a:avLst>
              <a:gd name="adj" fmla="val 9231"/>
            </a:avLst>
          </a:prstGeom>
          <a:solidFill>
            <a:srgbClr val="F7F5F1"/>
          </a:solidFill>
          <a:ln w="9525">
            <a:solidFill>
              <a:srgbClr val="DDD8CF"/>
            </a:solidFill>
            <a:prstDash val="solid"/>
          </a:ln>
        </p:spPr>
      </p:sp>
      <p:sp>
        <p:nvSpPr>
          <p:cNvPr id="17" name="tile value per kW of pad capacity, vs US$8.5 incumbent"/>
          <p:cNvSpPr txBox="1"/>
          <p:nvPr/>
        </p:nvSpPr>
        <p:spPr>
          <a:xfrm>
            <a:off x="9509760" y="3127248"/>
            <a:ext cx="1920240" cy="653796"/>
          </a:xfrm>
          <a:prstGeom prst="rect">
            <a:avLst/>
          </a:prstGeom>
          <a:noFill/>
          <a:ln/>
        </p:spPr>
        <p:txBody>
          <a:bodyPr wrap="square" lIns="0" tIns="0" rIns="0" bIns="0" rtlCol="0" anchor="ctr"/>
          <a:lstStyle/>
          <a:p>
            <a:pPr indent="0" marL="0">
              <a:buNone/>
            </a:pPr>
            <a:r>
              <a:rPr lang="en-US" sz="2400" b="1" dirty="0">
                <a:solidFill>
                  <a:srgbClr val="15191C"/>
                </a:solidFill>
              </a:rPr>
              <a:t>US$8.9</a:t>
            </a:r>
            <a:endParaRPr lang="en-US" sz="2400" dirty="0"/>
          </a:p>
        </p:txBody>
      </p:sp>
      <p:sp>
        <p:nvSpPr>
          <p:cNvPr id="18" name="tile label per kW of pad capacity, vs US$8.5 incumbent"/>
          <p:cNvSpPr txBox="1"/>
          <p:nvPr/>
        </p:nvSpPr>
        <p:spPr>
          <a:xfrm>
            <a:off x="9509760" y="3730752"/>
            <a:ext cx="1920240" cy="451714"/>
          </a:xfrm>
          <a:prstGeom prst="rect">
            <a:avLst/>
          </a:prstGeom>
          <a:noFill/>
          <a:ln/>
        </p:spPr>
        <p:txBody>
          <a:bodyPr wrap="square" lIns="0" tIns="0" rIns="0" bIns="0" rtlCol="0" anchor="t"/>
          <a:lstStyle/>
          <a:p>
            <a:pPr indent="0" marL="0">
              <a:buNone/>
            </a:pPr>
            <a:r>
              <a:rPr lang="en-US" sz="1100" dirty="0">
                <a:solidFill>
                  <a:srgbClr val="4A5058"/>
                </a:solidFill>
              </a:rPr>
              <a:t>per kW of pad capacity, vs US$8.5 incumbent</a:t>
            </a:r>
            <a:endParaRPr lang="en-US" sz="1100" dirty="0"/>
          </a:p>
        </p:txBody>
      </p:sp>
      <p:sp>
        <p:nvSpPr>
          <p:cNvPr id="19" name="text"/>
          <p:cNvSpPr txBox="1"/>
          <p:nvPr/>
        </p:nvSpPr>
        <p:spPr>
          <a:xfrm>
            <a:off x="6858000" y="4389120"/>
            <a:ext cx="4754880" cy="1463040"/>
          </a:xfrm>
          <a:prstGeom prst="rect">
            <a:avLst/>
          </a:prstGeom>
          <a:noFill/>
          <a:ln/>
        </p:spPr>
        <p:txBody>
          <a:bodyPr wrap="square" lIns="0" tIns="0" rIns="0" bIns="0" rtlCol="0" anchor="t"/>
          <a:lstStyle/>
          <a:p>
            <a:pPr indent="0" marL="0">
              <a:buNone/>
            </a:pPr>
            <a:r>
              <a:rPr lang="en-US" sz="1100" dirty="0">
                <a:solidFill>
                  <a:srgbClr val="4A5058"/>
                </a:solidFill>
              </a:rPr>
              <a:t>Capital per 100k-per-year line at the contract manufacturer: US$5.6 to 8.0 M, of which 1.4 to 1.6 vacuum furnaces are US$2.4 to 3.2 M and the test cell US$1.0 to 1.6 M. Copper at US$14.6/kg and silver at US$65/oz, hedged 6 to 12 months. Yield 93.5 % mature; per-SKU tooling is limited to the laser-pierced meter web.</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MOUNTING AND INTEGRATION</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The clamp bears on the cap, never on the ears or the ties</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15</a:t>
            </a:r>
            <a:endParaRPr lang="en-US" sz="900" dirty="0"/>
          </a:p>
        </p:txBody>
      </p:sp>
      <p:sp>
        <p:nvSpPr>
          <p:cNvPr id="6" name="card Load frame and screw kits"/>
          <p:cNvSpPr/>
          <p:nvPr/>
        </p:nvSpPr>
        <p:spPr>
          <a:xfrm>
            <a:off x="548640" y="1645920"/>
            <a:ext cx="5486400" cy="1920240"/>
          </a:xfrm>
          <a:prstGeom prst="roundRect">
            <a:avLst>
              <a:gd name="adj" fmla="val 5714"/>
            </a:avLst>
          </a:prstGeom>
          <a:solidFill>
            <a:srgbClr val="F7F5F1"/>
          </a:solidFill>
          <a:ln w="9525">
            <a:solidFill>
              <a:srgbClr val="DDD8CF"/>
            </a:solidFill>
            <a:prstDash val="solid"/>
          </a:ln>
        </p:spPr>
      </p:sp>
      <p:sp>
        <p:nvSpPr>
          <p:cNvPr id="7" name="card head Load frame and screw kits"/>
          <p:cNvSpPr txBox="1"/>
          <p:nvPr/>
        </p:nvSpPr>
        <p:spPr>
          <a:xfrm>
            <a:off x="731520" y="1755648"/>
            <a:ext cx="5120640" cy="347472"/>
          </a:xfrm>
          <a:prstGeom prst="rect">
            <a:avLst/>
          </a:prstGeom>
          <a:noFill/>
          <a:ln/>
        </p:spPr>
        <p:txBody>
          <a:bodyPr wrap="square" lIns="0" tIns="0" rIns="0" bIns="0" rtlCol="0" anchor="t"/>
          <a:lstStyle/>
          <a:p>
            <a:pPr indent="0" marL="0">
              <a:buNone/>
            </a:pPr>
            <a:r>
              <a:rPr lang="en-US" sz="1400" b="1" dirty="0">
                <a:solidFill>
                  <a:srgbClr val="15191C"/>
                </a:solidFill>
              </a:rPr>
              <a:t>Load frame and screw kits</a:t>
            </a:r>
            <a:endParaRPr lang="en-US" sz="1400" dirty="0"/>
          </a:p>
        </p:txBody>
      </p:sp>
      <p:sp>
        <p:nvSpPr>
          <p:cNvPr id="8" name="card body Load frame and screw kits"/>
          <p:cNvSpPr txBox="1"/>
          <p:nvPr/>
        </p:nvSpPr>
        <p:spPr>
          <a:xfrm>
            <a:off x="731520" y="2121408"/>
            <a:ext cx="5120640" cy="1353312"/>
          </a:xfrm>
          <a:prstGeom prst="rect">
            <a:avLst/>
          </a:prstGeom>
          <a:noFill/>
          <a:ln/>
        </p:spPr>
        <p:txBody>
          <a:bodyPr wrap="square" lIns="0" tIns="0" rIns="0" bIns="0" rtlCol="0" anchor="t"/>
          <a:lstStyle/>
          <a:p>
            <a:pPr indent="0" marL="0">
              <a:buNone/>
            </a:pPr>
            <a:r>
              <a:rPr lang="en-US" sz="1100" dirty="0">
                <a:solidFill>
                  <a:srgbClr val="4A5058"/>
                </a:solidFill>
              </a:rPr>
              <a:t>The 1.5 mm annealed ears would see 47 to 195 MPa against a 40 MPa allowable, so an 85 g stainless frame bears on two flat cap lands over the plenum end frames. Eight dia-4 captive shoulder screws with preset springs: 480 N (SPR-60) or 880 N (SPR-110) per plate on a lidded package, 2,011 N on the test vehicle. Clamp repeatability 4 to 5 %.</a:t>
            </a:r>
            <a:endParaRPr lang="en-US" sz="1100" dirty="0"/>
          </a:p>
        </p:txBody>
      </p:sp>
      <p:sp>
        <p:nvSpPr>
          <p:cNvPr id="9" name="card Variants in the same tooling"/>
          <p:cNvSpPr/>
          <p:nvPr/>
        </p:nvSpPr>
        <p:spPr>
          <a:xfrm>
            <a:off x="548640" y="3703320"/>
            <a:ext cx="5486400" cy="1371600"/>
          </a:xfrm>
          <a:prstGeom prst="roundRect">
            <a:avLst>
              <a:gd name="adj" fmla="val 8000"/>
            </a:avLst>
          </a:prstGeom>
          <a:solidFill>
            <a:srgbClr val="F7F5F1"/>
          </a:solidFill>
          <a:ln w="9525">
            <a:solidFill>
              <a:srgbClr val="DDD8CF"/>
            </a:solidFill>
            <a:prstDash val="solid"/>
          </a:ln>
        </p:spPr>
      </p:sp>
      <p:sp>
        <p:nvSpPr>
          <p:cNvPr id="10" name="card head Variants in the same tooling"/>
          <p:cNvSpPr txBox="1"/>
          <p:nvPr/>
        </p:nvSpPr>
        <p:spPr>
          <a:xfrm>
            <a:off x="731520" y="3813048"/>
            <a:ext cx="5120640" cy="347472"/>
          </a:xfrm>
          <a:prstGeom prst="rect">
            <a:avLst/>
          </a:prstGeom>
          <a:noFill/>
          <a:ln/>
        </p:spPr>
        <p:txBody>
          <a:bodyPr wrap="square" lIns="0" tIns="0" rIns="0" bIns="0" rtlCol="0" anchor="t"/>
          <a:lstStyle/>
          <a:p>
            <a:pPr indent="0" marL="0">
              <a:buNone/>
            </a:pPr>
            <a:r>
              <a:rPr lang="en-US" sz="1400" b="1" dirty="0">
                <a:solidFill>
                  <a:srgbClr val="15191C"/>
                </a:solidFill>
              </a:rPr>
              <a:t>Variants in the same tooling</a:t>
            </a:r>
            <a:endParaRPr lang="en-US" sz="1400" dirty="0"/>
          </a:p>
        </p:txBody>
      </p:sp>
      <p:sp>
        <p:nvSpPr>
          <p:cNvPr id="11" name="card body Variants in the same tooling"/>
          <p:cNvSpPr txBox="1"/>
          <p:nvPr/>
        </p:nvSpPr>
        <p:spPr>
          <a:xfrm>
            <a:off x="731520" y="4178808"/>
            <a:ext cx="5120640" cy="804672"/>
          </a:xfrm>
          <a:prstGeom prst="rect">
            <a:avLst/>
          </a:prstGeom>
          <a:noFill/>
          <a:ln/>
        </p:spPr>
        <p:txBody>
          <a:bodyPr wrap="square" lIns="0" tIns="0" rIns="0" bIns="0" rtlCol="0" anchor="t"/>
          <a:lstStyle/>
          <a:p>
            <a:pPr indent="0" marL="0">
              <a:buNone/>
            </a:pPr>
            <a:r>
              <a:rPr lang="en-US" sz="1100" dirty="0">
                <a:solidFill>
                  <a:srgbClr val="4A5058"/>
                </a:solidFill>
              </a:rPr>
              <a:t>HBM pedestal 0 to 0.40 mm cut in the same fly-cut for bare-die packages; a PRISM-G envelope of 127 × 137 mm with 17 zoned lines at 1.03 to 1.15 kg; four test vehicles from the 4 kW single-die point to 400 W/cm² and 30 kW.</a:t>
            </a:r>
            <a:endParaRPr lang="en-US" sz="1100" dirty="0"/>
          </a:p>
        </p:txBody>
      </p:sp>
      <p:sp>
        <p:nvSpPr>
          <p:cNvPr id="12" name="text"/>
          <p:cNvSpPr txBox="1"/>
          <p:nvPr/>
        </p:nvSpPr>
        <p:spPr>
          <a:xfrm>
            <a:off x="6309360" y="1600200"/>
            <a:ext cx="4572000" cy="274320"/>
          </a:xfrm>
          <a:prstGeom prst="rect">
            <a:avLst/>
          </a:prstGeom>
          <a:noFill/>
          <a:ln/>
        </p:spPr>
        <p:txBody>
          <a:bodyPr wrap="square" lIns="0" tIns="0" rIns="0" bIns="0" rtlCol="0" anchor="t"/>
          <a:lstStyle/>
          <a:p>
            <a:pPr indent="0" marL="0">
              <a:buNone/>
            </a:pPr>
            <a:r>
              <a:rPr lang="en-US" sz="1300" b="1" dirty="0">
                <a:solidFill>
                  <a:srgbClr val="15191C"/>
                </a:solidFill>
              </a:rPr>
              <a:t>Retention budget</a:t>
            </a:r>
            <a:endParaRPr lang="en-US" sz="13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6309360" y="1920240"/>
          <a:ext cx="5303520" cy="914400"/>
        </p:xfrm>
        <a:graphic>
          <a:graphicData uri="http://schemas.openxmlformats.org/drawingml/2006/table">
            <a:tbl>
              <a:tblPr/>
              <a:tblGrid>
                <a:gridCol w="2468880"/>
                <a:gridCol w="1005840"/>
                <a:gridCol w="822960"/>
                <a:gridCol w="1005840"/>
              </a:tblGrid>
              <a:tr h="0">
                <a:tc>
                  <a:txBody>
                    <a:bodyPr/>
                    <a:lstStyle/>
                    <a:p>
                      <a:pPr indent="0" marL="0">
                        <a:buNone/>
                      </a:pPr>
                      <a:r>
                        <a:rPr lang="en-US" sz="1000" b="1" dirty="0">
                          <a:solidFill>
                            <a:srgbClr val="15191C"/>
                          </a:solidFill>
                          <a:latin typeface="+mn-lt" pitchFamily="34" charset="0"/>
                          <a:ea typeface="+mn-lt" pitchFamily="34" charset="-122"/>
                          <a:cs typeface="+mn-lt" pitchFamily="34" charset="-120"/>
                        </a:rPr>
                        <a:t>Interface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Pressure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Force N</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Kit</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Test vehicle, 4 × 54 mm AlN heaters, pad condition</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25 psi</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2,011</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DIE-TTV</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Hard-mode vehicle, 4 × 50 mm copper blocks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25 psi</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1,724</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DIE-TTV</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Lidded 100 cm² package, pad or liquid metal</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7 to 13 psi</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480 / 880</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SPR-60 / 110</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Bare-die block, 16.6 to 33 cm²</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0.15–0.35 MPa</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480 / 880</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SPR-60 / 110</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bl>
          </a:graphicData>
        </a:graphic>
      </p:graphicFrame>
      <p:sp>
        <p:nvSpPr>
          <p:cNvPr id="14" name="tile plate, CAD solids"/>
          <p:cNvSpPr/>
          <p:nvPr/>
        </p:nvSpPr>
        <p:spPr>
          <a:xfrm>
            <a:off x="6309360" y="4114800"/>
            <a:ext cx="1691640" cy="1005840"/>
          </a:xfrm>
          <a:prstGeom prst="roundRect">
            <a:avLst>
              <a:gd name="adj" fmla="val 10909"/>
            </a:avLst>
          </a:prstGeom>
          <a:solidFill>
            <a:srgbClr val="15191C"/>
          </a:solidFill>
          <a:ln w="9525">
            <a:solidFill>
              <a:srgbClr val="15191C"/>
            </a:solidFill>
            <a:prstDash val="solid"/>
          </a:ln>
        </p:spPr>
      </p:sp>
      <p:sp>
        <p:nvSpPr>
          <p:cNvPr id="15" name="tile value plate, CAD solids"/>
          <p:cNvSpPr txBox="1"/>
          <p:nvPr/>
        </p:nvSpPr>
        <p:spPr>
          <a:xfrm>
            <a:off x="6492240" y="4224528"/>
            <a:ext cx="1325880" cy="553212"/>
          </a:xfrm>
          <a:prstGeom prst="rect">
            <a:avLst/>
          </a:prstGeom>
          <a:noFill/>
          <a:ln/>
        </p:spPr>
        <p:txBody>
          <a:bodyPr wrap="square" lIns="0" tIns="0" rIns="0" bIns="0" rtlCol="0" anchor="ctr"/>
          <a:lstStyle/>
          <a:p>
            <a:pPr indent="0" marL="0">
              <a:buNone/>
            </a:pPr>
            <a:r>
              <a:rPr lang="en-US" sz="2400" b="1" dirty="0">
                <a:solidFill>
                  <a:srgbClr val="F4F1EC"/>
                </a:solidFill>
              </a:rPr>
              <a:t>1,151 g</a:t>
            </a:r>
            <a:endParaRPr lang="en-US" sz="2400" dirty="0"/>
          </a:p>
        </p:txBody>
      </p:sp>
      <p:sp>
        <p:nvSpPr>
          <p:cNvPr id="16" name="tile label plate, CAD solids"/>
          <p:cNvSpPr txBox="1"/>
          <p:nvPr/>
        </p:nvSpPr>
        <p:spPr>
          <a:xfrm>
            <a:off x="6492240" y="4718304"/>
            <a:ext cx="1325880" cy="382219"/>
          </a:xfrm>
          <a:prstGeom prst="rect">
            <a:avLst/>
          </a:prstGeom>
          <a:noFill/>
          <a:ln/>
        </p:spPr>
        <p:txBody>
          <a:bodyPr wrap="square" lIns="0" tIns="0" rIns="0" bIns="0" rtlCol="0" anchor="t"/>
          <a:lstStyle/>
          <a:p>
            <a:pPr indent="0" marL="0">
              <a:buNone/>
            </a:pPr>
            <a:r>
              <a:rPr lang="en-US" sz="1100" dirty="0">
                <a:solidFill>
                  <a:srgbClr val="C9C4BB"/>
                </a:solidFill>
              </a:rPr>
              <a:t>plate, CAD solids</a:t>
            </a:r>
            <a:endParaRPr lang="en-US" sz="1100" dirty="0"/>
          </a:p>
        </p:txBody>
      </p:sp>
      <p:sp>
        <p:nvSpPr>
          <p:cNvPr id="17" name="tile lane sum with stubs, screws, backplate"/>
          <p:cNvSpPr/>
          <p:nvPr/>
        </p:nvSpPr>
        <p:spPr>
          <a:xfrm>
            <a:off x="8138160" y="4114800"/>
            <a:ext cx="1691640" cy="1005840"/>
          </a:xfrm>
          <a:prstGeom prst="roundRect">
            <a:avLst>
              <a:gd name="adj" fmla="val 10909"/>
            </a:avLst>
          </a:prstGeom>
          <a:solidFill>
            <a:srgbClr val="15191C"/>
          </a:solidFill>
          <a:ln w="9525">
            <a:solidFill>
              <a:srgbClr val="15191C"/>
            </a:solidFill>
            <a:prstDash val="solid"/>
          </a:ln>
        </p:spPr>
      </p:sp>
      <p:sp>
        <p:nvSpPr>
          <p:cNvPr id="18" name="tile value lane sum with stubs, screws, backplate"/>
          <p:cNvSpPr txBox="1"/>
          <p:nvPr/>
        </p:nvSpPr>
        <p:spPr>
          <a:xfrm>
            <a:off x="8321040" y="4224528"/>
            <a:ext cx="1325880" cy="553212"/>
          </a:xfrm>
          <a:prstGeom prst="rect">
            <a:avLst/>
          </a:prstGeom>
          <a:noFill/>
          <a:ln/>
        </p:spPr>
        <p:txBody>
          <a:bodyPr wrap="square" lIns="0" tIns="0" rIns="0" bIns="0" rtlCol="0" anchor="ctr"/>
          <a:lstStyle/>
          <a:p>
            <a:pPr indent="0" marL="0">
              <a:buNone/>
            </a:pPr>
            <a:r>
              <a:rPr lang="en-US" sz="2400" b="1" dirty="0">
                <a:solidFill>
                  <a:srgbClr val="F4F1EC"/>
                </a:solidFill>
              </a:rPr>
              <a:t>1,307 g</a:t>
            </a:r>
            <a:endParaRPr lang="en-US" sz="2400" dirty="0"/>
          </a:p>
        </p:txBody>
      </p:sp>
      <p:sp>
        <p:nvSpPr>
          <p:cNvPr id="19" name="tile label lane sum with stubs, screws, backplate"/>
          <p:cNvSpPr txBox="1"/>
          <p:nvPr/>
        </p:nvSpPr>
        <p:spPr>
          <a:xfrm>
            <a:off x="8321040" y="4718304"/>
            <a:ext cx="1325880" cy="382219"/>
          </a:xfrm>
          <a:prstGeom prst="rect">
            <a:avLst/>
          </a:prstGeom>
          <a:noFill/>
          <a:ln/>
        </p:spPr>
        <p:txBody>
          <a:bodyPr wrap="square" lIns="0" tIns="0" rIns="0" bIns="0" rtlCol="0" anchor="t"/>
          <a:lstStyle/>
          <a:p>
            <a:pPr indent="0" marL="0">
              <a:buNone/>
            </a:pPr>
            <a:r>
              <a:rPr lang="en-US" sz="1100" dirty="0">
                <a:solidFill>
                  <a:srgbClr val="C9C4BB"/>
                </a:solidFill>
              </a:rPr>
              <a:t>lane sum with stubs, screws, backplate</a:t>
            </a:r>
            <a:endParaRPr lang="en-US" sz="1100" dirty="0"/>
          </a:p>
        </p:txBody>
      </p:sp>
      <p:sp>
        <p:nvSpPr>
          <p:cNvPr id="20" name="tile SKU limit; budget 1,240"/>
          <p:cNvSpPr/>
          <p:nvPr/>
        </p:nvSpPr>
        <p:spPr>
          <a:xfrm>
            <a:off x="9966960" y="4114800"/>
            <a:ext cx="1645920" cy="1005840"/>
          </a:xfrm>
          <a:prstGeom prst="roundRect">
            <a:avLst>
              <a:gd name="adj" fmla="val 10909"/>
            </a:avLst>
          </a:prstGeom>
          <a:solidFill>
            <a:srgbClr val="15191C"/>
          </a:solidFill>
          <a:ln w="9525">
            <a:solidFill>
              <a:srgbClr val="15191C"/>
            </a:solidFill>
            <a:prstDash val="solid"/>
          </a:ln>
        </p:spPr>
      </p:sp>
      <p:sp>
        <p:nvSpPr>
          <p:cNvPr id="21" name="tile value SKU limit; budget 1,240"/>
          <p:cNvSpPr txBox="1"/>
          <p:nvPr/>
        </p:nvSpPr>
        <p:spPr>
          <a:xfrm>
            <a:off x="10149840" y="4224528"/>
            <a:ext cx="1280160" cy="553212"/>
          </a:xfrm>
          <a:prstGeom prst="rect">
            <a:avLst/>
          </a:prstGeom>
          <a:noFill/>
          <a:ln/>
        </p:spPr>
        <p:txBody>
          <a:bodyPr wrap="square" lIns="0" tIns="0" rIns="0" bIns="0" rtlCol="0" anchor="ctr"/>
          <a:lstStyle/>
          <a:p>
            <a:pPr indent="0" marL="0">
              <a:buNone/>
            </a:pPr>
            <a:r>
              <a:rPr lang="en-US" sz="2400" b="1" dirty="0">
                <a:solidFill>
                  <a:srgbClr val="F4F1EC"/>
                </a:solidFill>
              </a:rPr>
              <a:t>1,400 g</a:t>
            </a:r>
            <a:endParaRPr lang="en-US" sz="2400" dirty="0"/>
          </a:p>
        </p:txBody>
      </p:sp>
      <p:sp>
        <p:nvSpPr>
          <p:cNvPr id="22" name="tile label SKU limit; budget 1,240"/>
          <p:cNvSpPr txBox="1"/>
          <p:nvPr/>
        </p:nvSpPr>
        <p:spPr>
          <a:xfrm>
            <a:off x="10149840" y="4718304"/>
            <a:ext cx="1280160" cy="382219"/>
          </a:xfrm>
          <a:prstGeom prst="rect">
            <a:avLst/>
          </a:prstGeom>
          <a:noFill/>
          <a:ln/>
        </p:spPr>
        <p:txBody>
          <a:bodyPr wrap="square" lIns="0" tIns="0" rIns="0" bIns="0" rtlCol="0" anchor="t"/>
          <a:lstStyle/>
          <a:p>
            <a:pPr indent="0" marL="0">
              <a:buNone/>
            </a:pPr>
            <a:r>
              <a:rPr lang="en-US" sz="1100" dirty="0">
                <a:solidFill>
                  <a:srgbClr val="C9C4BB"/>
                </a:solidFill>
              </a:rPr>
              <a:t>SKU limit; budget 1,240</a:t>
            </a:r>
            <a:endParaRPr lang="en-US" sz="1100" dirty="0"/>
          </a:p>
        </p:txBody>
      </p:sp>
      <p:sp>
        <p:nvSpPr>
          <p:cNvPr id="23" name="text"/>
          <p:cNvSpPr txBox="1"/>
          <p:nvPr/>
        </p:nvSpPr>
        <p:spPr>
          <a:xfrm>
            <a:off x="548640" y="5303520"/>
            <a:ext cx="11064240" cy="640080"/>
          </a:xfrm>
          <a:prstGeom prst="rect">
            <a:avLst/>
          </a:prstGeom>
          <a:noFill/>
          <a:ln/>
        </p:spPr>
        <p:txBody>
          <a:bodyPr wrap="square" lIns="0" tIns="0" rIns="0" bIns="0" rtlCol="0" anchor="t"/>
          <a:lstStyle/>
          <a:p>
            <a:pPr indent="0" marL="0">
              <a:buNone/>
            </a:pPr>
            <a:r>
              <a:rPr lang="en-US" sz="1000" dirty="0">
                <a:solidFill>
                  <a:srgbClr val="8F8A82"/>
                </a:solidFill>
              </a:rPr>
              <a:t>Mass is 67 g over the 1,240 g budget on the cap lane’s basis and 92 g under the 1,400 g limit with the frame; a 0.6 mm 316L separator (−106 g) recovers it. A thinner cap sheet is ruled out by draw thinning at the arch ends. Decision at G1.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CAD PACKAGE</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Fourteen real solids from one parameter file, checked for interference</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16</a:t>
            </a:r>
            <a:endParaRPr lang="en-US" sz="900" dirty="0"/>
          </a:p>
        </p:txBody>
      </p:sp>
      <p:pic>
        <p:nvPicPr>
          <p:cNvPr id="6" name="Top view" descr="Top view">    </p:cNvPr>
          <p:cNvPicPr>
            <a:picLocks noChangeAspect="1"/>
          </p:cNvPicPr>
          <p:nvPr/>
        </p:nvPicPr>
        <p:blipFill>
          <a:blip r:embed="rId1"/>
          <a:srcRect l="0" r="0" t="0" b="0"/>
          <a:stretch/>
        </p:blipFill>
        <p:spPr>
          <a:xfrm>
            <a:off x="548640" y="1645920"/>
            <a:ext cx="2834640" cy="2834640"/>
          </a:xfrm>
          <a:prstGeom prst="rect">
            <a:avLst/>
          </a:prstGeom>
        </p:spPr>
      </p:pic>
      <p:pic>
        <p:nvPicPr>
          <p:cNvPr id="7" name="Underside" descr="Underside">    </p:cNvPr>
          <p:cNvPicPr>
            <a:picLocks noChangeAspect="1"/>
          </p:cNvPicPr>
          <p:nvPr/>
        </p:nvPicPr>
        <p:blipFill>
          <a:blip r:embed="rId2"/>
          <a:srcRect l="0" r="0" t="0" b="0"/>
          <a:stretch/>
        </p:blipFill>
        <p:spPr>
          <a:xfrm>
            <a:off x="3520440" y="1645920"/>
            <a:ext cx="2834640" cy="2834640"/>
          </a:xfrm>
          <a:prstGeom prst="rect">
            <a:avLst/>
          </a:prstGeom>
        </p:spPr>
      </p:pic>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6675120" y="1645920"/>
          <a:ext cx="4937760" cy="914400"/>
        </p:xfrm>
        <a:graphic>
          <a:graphicData uri="http://schemas.openxmlformats.org/drawingml/2006/table">
            <a:tbl>
              <a:tblPr/>
              <a:tblGrid>
                <a:gridCol w="2926080"/>
                <a:gridCol w="2011680"/>
              </a:tblGrid>
              <a:tr h="0">
                <a:tc>
                  <a:txBody>
                    <a:bodyPr/>
                    <a:lstStyle/>
                    <a:p>
                      <a:pPr indent="0" marL="0">
                        <a:buNone/>
                      </a:pPr>
                      <a:r>
                        <a:rPr lang="en-US" sz="1000" b="1" dirty="0">
                          <a:solidFill>
                            <a:srgbClr val="15191C"/>
                          </a:solidFill>
                          <a:latin typeface="+mn-lt" pitchFamily="34" charset="0"/>
                          <a:ea typeface="+mn-lt" pitchFamily="34" charset="-122"/>
                          <a:cs typeface="+mn-lt" pitchFamily="34" charset="-120"/>
                        </a:rPr>
                        <a:t>Check</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Result</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Solid validity</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14 of 14 valid single bodies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Interference, 20 pairs incl. cap vs every part inside its skirt</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zero volume on all</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Height at arch crowns / bosses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20.8 mm / 29.5 mm</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Plate mass from solid volumes (no stubs, frame or backplate)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1,151 g</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Fins, kerfs, orifices modelled</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360, 15, 756</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bl>
          </a:graphicData>
        </a:graphic>
      </p:graphicFrame>
      <p:sp>
        <p:nvSpPr>
          <p:cNvPr id="9" name="text"/>
          <p:cNvSpPr txBox="1"/>
          <p:nvPr/>
        </p:nvSpPr>
        <p:spPr>
          <a:xfrm>
            <a:off x="6675120" y="3931920"/>
            <a:ext cx="4937760" cy="1371600"/>
          </a:xfrm>
          <a:prstGeom prst="rect">
            <a:avLst/>
          </a:prstGeom>
          <a:noFill/>
          <a:ln/>
        </p:spPr>
        <p:txBody>
          <a:bodyPr wrap="square" lIns="0" tIns="0" rIns="0" bIns="0" rtlCol="0" anchor="t"/>
          <a:lstStyle/>
          <a:p>
            <a:pPr indent="0" marL="0">
              <a:buNone/>
            </a:pPr>
            <a:r>
              <a:rPr lang="en-US" sz="1100" dirty="0">
                <a:solidFill>
                  <a:srgbClr val="4A5058"/>
                </a:solidFill>
              </a:rPr>
              <a:t>Delivered: STEP AP214 per part and the full assembly, STL meshes, developed flat pattern of the plenum, orifice artworks and separator pattern as DXF, orthographic SVG views, dimension tables per part, render set, and the CadQuery source that regenerates all of it from design/params.json.</a:t>
            </a:r>
            <a:endParaRPr lang="en-US" sz="1100" dirty="0"/>
          </a:p>
        </p:txBody>
      </p:sp>
      <p:sp>
        <p:nvSpPr>
          <p:cNvPr id="10" name="text"/>
          <p:cNvSpPr txBox="1"/>
          <p:nvPr/>
        </p:nvSpPr>
        <p:spPr>
          <a:xfrm>
            <a:off x="548640" y="4663440"/>
            <a:ext cx="5806440" cy="1097280"/>
          </a:xfrm>
          <a:prstGeom prst="rect">
            <a:avLst/>
          </a:prstGeom>
          <a:noFill/>
          <a:ln/>
        </p:spPr>
        <p:txBody>
          <a:bodyPr wrap="square" lIns="0" tIns="0" rIns="0" bIns="0" rtlCol="0" anchor="t"/>
          <a:lstStyle/>
          <a:p>
            <a:pPr indent="0" marL="0">
              <a:buNone/>
            </a:pPr>
            <a:r>
              <a:rPr lang="en-US" sz="1000" dirty="0">
                <a:solidFill>
                  <a:srgbClr val="8F8A82"/>
                </a:solidFill>
              </a:rPr>
              <a:t>Known simplifications: saw run-out ramp, capillary-break scribes, orifice corner radii, draw thinning, the stub seats and the guard’s corrugations are not modelled. The cap is regenerated from the cap lane’s values; the frame and screws follow the mechanical lane.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3"/>
                </a:solidFill>
              </a:rPr>
              <a:t>WHAT IT DOES NOT WIN</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bg2"/>
                </a:solidFill>
              </a:rPr>
              <a:t>Eight concessions, stated before anyone else finds them</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17</a:t>
            </a:r>
            <a:endParaRPr lang="en-US" sz="9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108960"/>
                <a:gridCol w="2377440"/>
                <a:gridCol w="5577840"/>
              </a:tblGrid>
              <a:tr h="0">
                <a:tc>
                  <a:txBody>
                    <a:bodyPr/>
                    <a:lstStyle/>
                    <a:p>
                      <a:pPr indent="0" marL="0">
                        <a:buNone/>
                      </a:pPr>
                      <a:r>
                        <a:rPr lang="en-US" sz="1100" b="1" dirty="0">
                          <a:solidFill>
                            <a:srgbClr val="D08A5E"/>
                          </a:solidFill>
                          <a:latin typeface="+mn-lt" pitchFamily="34" charset="0"/>
                          <a:ea typeface="+mn-lt" pitchFamily="34" charset="-122"/>
                          <a:cs typeface="+mn-lt" pitchFamily="34" charset="-120"/>
                        </a:rPr>
                        <a:t>Concession</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242A2F"/>
                    </a:solidFill>
                  </a:tcPr>
                </a:tc>
                <a:tc>
                  <a:txBody>
                    <a:bodyPr/>
                    <a:lstStyle/>
                    <a:p>
                      <a:pPr indent="0" marL="0">
                        <a:buNone/>
                      </a:pPr>
                      <a:r>
                        <a:rPr lang="en-US" sz="1100" b="1" dirty="0">
                          <a:solidFill>
                            <a:srgbClr val="D08A5E"/>
                          </a:solidFill>
                          <a:latin typeface="+mn-lt" pitchFamily="34" charset="0"/>
                          <a:ea typeface="+mn-lt" pitchFamily="34" charset="-122"/>
                          <a:cs typeface="+mn-lt" pitchFamily="34" charset="-120"/>
                        </a:rPr>
                        <a:t>Size</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242A2F"/>
                    </a:solidFill>
                  </a:tcPr>
                </a:tc>
                <a:tc>
                  <a:txBody>
                    <a:bodyPr/>
                    <a:lstStyle/>
                    <a:p>
                      <a:pPr indent="0" marL="0">
                        <a:buNone/>
                      </a:pPr>
                      <a:r>
                        <a:rPr lang="en-US" sz="1100" b="1" dirty="0">
                          <a:solidFill>
                            <a:srgbClr val="D08A5E"/>
                          </a:solidFill>
                          <a:latin typeface="+mn-lt" pitchFamily="34" charset="0"/>
                          <a:ea typeface="+mn-lt" pitchFamily="34" charset="-122"/>
                          <a:cs typeface="+mn-lt" pitchFamily="34" charset="-120"/>
                        </a:rPr>
                        <a:t>Why it stands</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242A2F"/>
                    </a:solidFill>
                  </a:tcPr>
                </a:tc>
              </a:tr>
              <a:tr h="0">
                <a:tc>
                  <a:txBody>
                    <a:bodyPr/>
                    <a:lstStyle/>
                    <a:p>
                      <a:pPr indent="0" marL="0">
                        <a:buNone/>
                      </a:pPr>
                      <a:r>
                        <a:rPr lang="en-US" sz="1100" dirty="0">
                          <a:solidFill>
                            <a:srgbClr val="F4F1EC"/>
                          </a:solidFill>
                          <a:latin typeface="+mn-lt" pitchFamily="34" charset="0"/>
                          <a:ea typeface="+mn-lt" pitchFamily="34" charset="-122"/>
                          <a:cs typeface="+mn-lt" pitchFamily="34" charset="-120"/>
                        </a:rPr>
                        <a:t>Price per plate</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US$165 vs about 126</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fine skiving, two-lamination grate, silver, 100 % test; parity per kW; US$142 on route C2</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r>
              <a:tr h="0">
                <a:tc>
                  <a:txBody>
                    <a:bodyPr/>
                    <a:lstStyle/>
                    <a:p>
                      <a:pPr indent="0" marL="0">
                        <a:buNone/>
                      </a:pPr>
                      <a:r>
                        <a:rPr lang="en-US" sz="1100" dirty="0">
                          <a:solidFill>
                            <a:srgbClr val="F4F1EC"/>
                          </a:solidFill>
                          <a:latin typeface="+mn-lt" pitchFamily="34" charset="0"/>
                          <a:ea typeface="+mn-lt" pitchFamily="34" charset="-122"/>
                          <a:cs typeface="+mn-lt" pitchFamily="34" charset="-120"/>
                        </a:rPr>
                        <a:t>No field record</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none</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first hardware month 3; 22-plate endurance months 5 to 11</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r>
              <a:tr h="0">
                <a:tc>
                  <a:txBody>
                    <a:bodyPr/>
                    <a:lstStyle/>
                    <a:p>
                      <a:pPr indent="0" marL="0">
                        <a:buNone/>
                      </a:pPr>
                      <a:r>
                        <a:rPr lang="en-US" sz="1100" dirty="0">
                          <a:solidFill>
                            <a:srgbClr val="F4F1EC"/>
                          </a:solidFill>
                          <a:latin typeface="+mn-lt" pitchFamily="34" charset="0"/>
                          <a:ea typeface="+mn-lt" pitchFamily="34" charset="-122"/>
                          <a:cs typeface="+mn-lt" pitchFamily="34" charset="-120"/>
                        </a:rPr>
                        <a:t>Fouling life at equal filtration</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0.15 mm gaps</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ships with a mandatory 33 µm absolute tray filter; dose claim only until E4</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r>
              <a:tr h="0">
                <a:tc>
                  <a:txBody>
                    <a:bodyPr/>
                    <a:lstStyle/>
                    <a:p>
                      <a:pPr indent="0" marL="0">
                        <a:buNone/>
                      </a:pPr>
                      <a:r>
                        <a:rPr lang="en-US" sz="1100" dirty="0">
                          <a:solidFill>
                            <a:srgbClr val="F4F1EC"/>
                          </a:solidFill>
                          <a:latin typeface="+mn-lt" pitchFamily="34" charset="0"/>
                          <a:ea typeface="+mn-lt" pitchFamily="34" charset="-122"/>
                          <a:cs typeface="+mn-lt" pitchFamily="34" charset="-120"/>
                        </a:rPr>
                        <a:t>Average on a 100 cm² footprint, paste</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parity</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the fin-field advantage shrinks with small heaters; both vehicles are tested</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r>
              <a:tr h="0">
                <a:tc>
                  <a:txBody>
                    <a:bodyPr/>
                    <a:lstStyle/>
                    <a:p>
                      <a:pPr indent="0" marL="0">
                        <a:buNone/>
                      </a:pPr>
                      <a:r>
                        <a:rPr lang="en-US" sz="1100" dirty="0">
                          <a:solidFill>
                            <a:srgbClr val="F4F1EC"/>
                          </a:solidFill>
                          <a:latin typeface="+mn-lt" pitchFamily="34" charset="0"/>
                          <a:ea typeface="+mn-lt" pitchFamily="34" charset="-122"/>
                          <a:cs typeface="+mn-lt" pitchFamily="34" charset="-120"/>
                        </a:rPr>
                        <a:t>Average at or below 0.5 LPM/kW</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loss</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the split-flow plate’s short caloric path wins on the average at low flow</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r>
              <a:tr h="0">
                <a:tc>
                  <a:txBody>
                    <a:bodyPr/>
                    <a:lstStyle/>
                    <a:p>
                      <a:pPr indent="0" marL="0">
                        <a:buNone/>
                      </a:pPr>
                      <a:r>
                        <a:rPr lang="en-US" sz="1100" dirty="0">
                          <a:solidFill>
                            <a:srgbClr val="F4F1EC"/>
                          </a:solidFill>
                          <a:latin typeface="+mn-lt" pitchFamily="34" charset="0"/>
                          <a:ea typeface="+mn-lt" pitchFamily="34" charset="-122"/>
                          <a:cs typeface="+mn-lt" pitchFamily="34" charset="-120"/>
                        </a:rPr>
                        <a:t>CoolIT’s 4 kW single-die point</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loss with the drop-in core</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the meter pays 2.3 kPa and the field is oversized for a 50 × 50 mm die</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r>
              <a:tr h="0">
                <a:tc>
                  <a:txBody>
                    <a:bodyPr/>
                    <a:lstStyle/>
                    <a:p>
                      <a:pPr indent="0" marL="0">
                        <a:buNone/>
                      </a:pPr>
                      <a:r>
                        <a:rPr lang="en-US" sz="1100" dirty="0">
                          <a:solidFill>
                            <a:srgbClr val="F4F1EC"/>
                          </a:solidFill>
                          <a:latin typeface="+mn-lt" pitchFamily="34" charset="0"/>
                          <a:ea typeface="+mn-lt" pitchFamily="34" charset="-122"/>
                          <a:cs typeface="+mn-lt" pitchFamily="34" charset="-120"/>
                        </a:rPr>
                        <a:t>350 W/cm² at 85 °C case</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about 98 °C (88 °C gated grade)</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a bare-die Tier 3 problem; still about 16 K better than a split-flow model</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r>
              <a:tr h="0">
                <a:tc>
                  <a:txBody>
                    <a:bodyPr/>
                    <a:lstStyle/>
                    <a:p>
                      <a:pPr indent="0" marL="0">
                        <a:buNone/>
                      </a:pPr>
                      <a:r>
                        <a:rPr lang="en-US" sz="1100" dirty="0">
                          <a:solidFill>
                            <a:srgbClr val="F4F1EC"/>
                          </a:solidFill>
                          <a:latin typeface="+mn-lt" pitchFamily="34" charset="0"/>
                          <a:ea typeface="+mn-lt" pitchFamily="34" charset="-122"/>
                          <a:cs typeface="+mn-lt" pitchFamily="34" charset="-120"/>
                        </a:rPr>
                        <a:t>Thermal buffering of power steps</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up to 1 K more rise in 100 ms</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100" dirty="0">
                          <a:solidFill>
                            <a:srgbClr val="F4F1EC"/>
                          </a:solidFill>
                          <a:latin typeface="+mn-lt" pitchFamily="34" charset="0"/>
                          <a:ea typeface="+mn-lt" pitchFamily="34" charset="-122"/>
                          <a:cs typeface="+mn-lt" pitchFamily="34" charset="-120"/>
                        </a:rPr>
                        <a:t>40 % less copper over the die; the absolute peak is still 3 to 6 K lower</a:t>
                      </a:r>
                      <a:endParaRPr lang="en-US" sz="11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r>
            </a:tbl>
          </a:graphicData>
        </a:graphic>
      </p:graphicFrame>
      <p:sp>
        <p:nvSpPr>
          <p:cNvPr id="7" name="text"/>
          <p:cNvSpPr txBox="1"/>
          <p:nvPr/>
        </p:nvSpPr>
        <p:spPr>
          <a:xfrm>
            <a:off x="548640" y="5760720"/>
            <a:ext cx="11064240" cy="457200"/>
          </a:xfrm>
          <a:prstGeom prst="rect">
            <a:avLst/>
          </a:prstGeom>
          <a:noFill/>
          <a:ln/>
        </p:spPr>
        <p:txBody>
          <a:bodyPr wrap="square" lIns="0" tIns="0" rIns="0" bIns="0" rtlCol="0" anchor="t"/>
          <a:lstStyle/>
          <a:p>
            <a:pPr indent="0" marL="0">
              <a:buNone/>
            </a:pPr>
            <a:r>
              <a:rPr lang="en-US" sz="1000" dirty="0">
                <a:solidFill>
                  <a:srgbClr val="C9C4BB"/>
                </a:solidFill>
              </a:rPr>
              <a:t>The recommended public claim (decision D1) excludes the 4 kW point, the low-flow average and the 100 cm² average, and is released only after gate G2 measurement.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RISKS</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The braze, the benchmark and the patents are the three that matter</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18</a:t>
            </a:r>
            <a:endParaRPr lang="en-US" sz="9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548640"/>
                <a:gridCol w="3749040"/>
                <a:gridCol w="1828800"/>
                <a:gridCol w="1737360"/>
                <a:gridCol w="3200400"/>
              </a:tblGrid>
              <a:tr h="0">
                <a:tc>
                  <a:txBody>
                    <a:bodyPr/>
                    <a:lstStyle/>
                    <a:p>
                      <a:pPr indent="0" marL="0">
                        <a:buNone/>
                      </a:pPr>
                      <a:r>
                        <a:rPr lang="en-US" sz="1000" b="1" dirty="0">
                          <a:solidFill>
                            <a:srgbClr val="15191C"/>
                          </a:solidFill>
                          <a:latin typeface="+mn-lt" pitchFamily="34" charset="0"/>
                          <a:ea typeface="+mn-lt" pitchFamily="34" charset="-122"/>
                          <a:cs typeface="+mn-lt" pitchFamily="34" charset="-120"/>
                        </a:rPr>
                        <a:t>#</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Risk</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Likelihood / impact</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Early warning</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Fallback</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R1</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Tie braze voids or wicking; per-strip detection fails at the 0.85 mm base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medium / critical</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E1 at month 3</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routes B, C, D; base 1.0 mm (+0.7 K)</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R8</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IP: CoolIT Split-Flow family, TW I606224, Microfabrica</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high / US timing</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FTO opinion, month 4</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non-US first; US from September 2028; indemnity insurance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R4</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Benchmark ambiguity used against us (footprint, case, thermocouple bias)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high / credibility</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reviewers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two vehicles, R″ per area, purchased plates, standing offer to test any CoolIT plate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R3</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CFD shows fin-top velocity above 0.5 m/s under the jets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medium / erosion, IP</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CFD at month 2</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wider lip, lower orifice velocity</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R12</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Micro-channel lids displace lidded plates at NVIDIA</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medium–high / rank A2</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customer signals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D7 lid-insert study; G2 pivot decision</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R9</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Cost above US$175 at 100k per year</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medium / channel</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RFQs, month 1</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route C2; per-SKU tooling limited to the web</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R5</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OCP’s recommended interface material is a paste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medium / average margin</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read §5.2, month 1</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lead with maximum, uniformity, dP, capacity</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R10</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Test-vehicle heaters crack at 150 W/cm²</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medium / schedule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commissioning, months 3–4</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copper-block cartridge vehicles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bl>
          </a:graphicData>
        </a:graphic>
      </p:graphicFrame>
      <p:sp>
        <p:nvSpPr>
          <p:cNvPr id="7" name="text"/>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000" dirty="0">
                <a:solidFill>
                  <a:srgbClr val="8F8A82"/>
                </a:solidFill>
              </a:rPr>
              <a:t>Fourteen risks in the register (architecture 13.1). Probability of a decisive pad result at month 12: 0.43; the dominant failure mode is a one-to-three-month slip at E1 or at test-vehicle commissioning, not a thermal miss.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INNOVATION REGISTER</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What a competitor has to copy, and how each piece is protected</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19</a:t>
            </a:r>
            <a:endParaRPr lang="en-US" sz="900" dirty="0"/>
          </a:p>
        </p:txBody>
      </p:sp>
      <p:sp>
        <p:nvSpPr>
          <p:cNvPr id="6" name="innovation 1"/>
          <p:cNvSpPr/>
          <p:nvPr/>
        </p:nvSpPr>
        <p:spPr>
          <a:xfrm>
            <a:off x="548640" y="1645920"/>
            <a:ext cx="3566160" cy="1371600"/>
          </a:xfrm>
          <a:prstGeom prst="roundRect">
            <a:avLst>
              <a:gd name="adj" fmla="val 6667"/>
            </a:avLst>
          </a:prstGeom>
          <a:solidFill>
            <a:srgbClr val="F7F5F1"/>
          </a:solidFill>
          <a:ln w="9525">
            <a:solidFill>
              <a:srgbClr val="DDD8CF"/>
            </a:solidFill>
            <a:prstDash val="solid"/>
          </a:ln>
        </p:spPr>
      </p:sp>
      <p:sp>
        <p:nvSpPr>
          <p:cNvPr id="7" name="text"/>
          <p:cNvSpPr txBox="1"/>
          <p:nvPr/>
        </p:nvSpPr>
        <p:spPr>
          <a:xfrm>
            <a:off x="685800" y="1737360"/>
            <a:ext cx="3291840" cy="228600"/>
          </a:xfrm>
          <a:prstGeom prst="rect">
            <a:avLst/>
          </a:prstGeom>
          <a:noFill/>
          <a:ln/>
        </p:spPr>
        <p:txBody>
          <a:bodyPr wrap="square" lIns="0" tIns="0" rIns="0" bIns="0" rtlCol="0" anchor="t"/>
          <a:lstStyle/>
          <a:p>
            <a:pPr indent="0" marL="0">
              <a:buNone/>
            </a:pPr>
            <a:r>
              <a:rPr lang="en-US" sz="900" b="1" spc="200" kern="0" dirty="0">
                <a:solidFill>
                  <a:srgbClr val="B4643A"/>
                </a:solidFill>
              </a:rPr>
              <a:t>FILE, NARROW</a:t>
            </a:r>
            <a:endParaRPr lang="en-US" sz="900" dirty="0"/>
          </a:p>
        </p:txBody>
      </p:sp>
      <p:sp>
        <p:nvSpPr>
          <p:cNvPr id="8" name="text"/>
          <p:cNvSpPr txBox="1"/>
          <p:nvPr/>
        </p:nvSpPr>
        <p:spPr>
          <a:xfrm>
            <a:off x="685800" y="1965960"/>
            <a:ext cx="3291840" cy="457200"/>
          </a:xfrm>
          <a:prstGeom prst="rect">
            <a:avLst/>
          </a:prstGeom>
          <a:noFill/>
          <a:ln/>
        </p:spPr>
        <p:txBody>
          <a:bodyPr wrap="square" lIns="0" tIns="0" rIns="0" bIns="0" rtlCol="0" anchor="t"/>
          <a:lstStyle/>
          <a:p>
            <a:pPr indent="0" marL="0">
              <a:buNone/>
            </a:pPr>
            <a:r>
              <a:rPr lang="en-US" sz="1200" b="1" dirty="0">
                <a:solidFill>
                  <a:srgbClr val="15191C"/>
                </a:solidFill>
              </a:rPr>
              <a:t>Tied, kerfed skived field under a stepped grate</a:t>
            </a:r>
            <a:endParaRPr lang="en-US" sz="1200" dirty="0"/>
          </a:p>
        </p:txBody>
      </p:sp>
      <p:sp>
        <p:nvSpPr>
          <p:cNvPr id="9" name="text"/>
          <p:cNvSpPr txBox="1"/>
          <p:nvPr/>
        </p:nvSpPr>
        <p:spPr>
          <a:xfrm>
            <a:off x="685800" y="2423160"/>
            <a:ext cx="3291840" cy="548640"/>
          </a:xfrm>
          <a:prstGeom prst="rect">
            <a:avLst/>
          </a:prstGeom>
          <a:noFill/>
          <a:ln/>
        </p:spPr>
        <p:txBody>
          <a:bodyPr wrap="square" lIns="0" tIns="0" rIns="0" bIns="0" rtlCol="0" anchor="t"/>
          <a:lstStyle/>
          <a:p>
            <a:pPr indent="0" marL="0">
              <a:buNone/>
            </a:pPr>
            <a:r>
              <a:rPr lang="en-US" sz="950" dirty="0">
                <a:solidFill>
                  <a:srgbClr val="4A5058"/>
                </a:solidFill>
              </a:rPr>
              <a:t>Every fin tip brazed to the lands; a 0.85 mm base that carries 1 MPa with zero bow.</a:t>
            </a:r>
            <a:endParaRPr lang="en-US" sz="950" dirty="0"/>
          </a:p>
        </p:txBody>
      </p:sp>
      <p:sp>
        <p:nvSpPr>
          <p:cNvPr id="10" name="innovation 2"/>
          <p:cNvSpPr/>
          <p:nvPr/>
        </p:nvSpPr>
        <p:spPr>
          <a:xfrm>
            <a:off x="4297680" y="1645920"/>
            <a:ext cx="3566160" cy="1371600"/>
          </a:xfrm>
          <a:prstGeom prst="roundRect">
            <a:avLst>
              <a:gd name="adj" fmla="val 6667"/>
            </a:avLst>
          </a:prstGeom>
          <a:solidFill>
            <a:srgbClr val="F7F5F1"/>
          </a:solidFill>
          <a:ln w="9525">
            <a:solidFill>
              <a:srgbClr val="DDD8CF"/>
            </a:solidFill>
            <a:prstDash val="solid"/>
          </a:ln>
        </p:spPr>
      </p:sp>
      <p:sp>
        <p:nvSpPr>
          <p:cNvPr id="11" name="text"/>
          <p:cNvSpPr txBox="1"/>
          <p:nvPr/>
        </p:nvSpPr>
        <p:spPr>
          <a:xfrm>
            <a:off x="4434840" y="1737360"/>
            <a:ext cx="3291840" cy="228600"/>
          </a:xfrm>
          <a:prstGeom prst="rect">
            <a:avLst/>
          </a:prstGeom>
          <a:noFill/>
          <a:ln/>
        </p:spPr>
        <p:txBody>
          <a:bodyPr wrap="square" lIns="0" tIns="0" rIns="0" bIns="0" rtlCol="0" anchor="t"/>
          <a:lstStyle/>
          <a:p>
            <a:pPr indent="0" marL="0">
              <a:buNone/>
            </a:pPr>
            <a:r>
              <a:rPr lang="en-US" sz="900" b="1" spc="200" kern="0" dirty="0">
                <a:solidFill>
                  <a:srgbClr val="B4643A"/>
                </a:solidFill>
              </a:rPr>
              <a:t>FILE, NARROW</a:t>
            </a:r>
            <a:endParaRPr lang="en-US" sz="900" dirty="0"/>
          </a:p>
        </p:txBody>
      </p:sp>
      <p:sp>
        <p:nvSpPr>
          <p:cNvPr id="12" name="text"/>
          <p:cNvSpPr txBox="1"/>
          <p:nvPr/>
        </p:nvSpPr>
        <p:spPr>
          <a:xfrm>
            <a:off x="4434840" y="1965960"/>
            <a:ext cx="3291840" cy="457200"/>
          </a:xfrm>
          <a:prstGeom prst="rect">
            <a:avLst/>
          </a:prstGeom>
          <a:noFill/>
          <a:ln/>
        </p:spPr>
        <p:txBody>
          <a:bodyPr wrap="square" lIns="0" tIns="0" rIns="0" bIns="0" rtlCol="0" anchor="t"/>
          <a:lstStyle/>
          <a:p>
            <a:pPr indent="0" marL="0">
              <a:buNone/>
            </a:pPr>
            <a:r>
              <a:rPr lang="en-US" sz="1200" b="1" dirty="0">
                <a:solidFill>
                  <a:srgbClr val="15191C"/>
                </a:solidFill>
              </a:rPr>
              <a:t>Inertial meter off the braze plane, graded to the plenum</a:t>
            </a:r>
            <a:endParaRPr lang="en-US" sz="1200" dirty="0"/>
          </a:p>
        </p:txBody>
      </p:sp>
      <p:sp>
        <p:nvSpPr>
          <p:cNvPr id="13" name="text"/>
          <p:cNvSpPr txBox="1"/>
          <p:nvPr/>
        </p:nvSpPr>
        <p:spPr>
          <a:xfrm>
            <a:off x="4434840" y="2423160"/>
            <a:ext cx="3291840" cy="548640"/>
          </a:xfrm>
          <a:prstGeom prst="rect">
            <a:avLst/>
          </a:prstGeom>
          <a:noFill/>
          <a:ln/>
        </p:spPr>
        <p:txBody>
          <a:bodyPr wrap="square" lIns="0" tIns="0" rIns="0" bIns="0" rtlCol="0" anchor="t"/>
          <a:lstStyle/>
          <a:p>
            <a:pPr indent="0" marL="0">
              <a:buNone/>
            </a:pPr>
            <a:r>
              <a:rPr lang="en-US" sz="950" dirty="0">
                <a:solidFill>
                  <a:srgbClr val="4A5058"/>
                </a:solidFill>
              </a:rPr>
              <a:t>Uniformity that does not change with flow; orifices that braze can never reach.</a:t>
            </a:r>
            <a:endParaRPr lang="en-US" sz="950" dirty="0"/>
          </a:p>
        </p:txBody>
      </p:sp>
      <p:sp>
        <p:nvSpPr>
          <p:cNvPr id="14" name="innovation 3"/>
          <p:cNvSpPr/>
          <p:nvPr/>
        </p:nvSpPr>
        <p:spPr>
          <a:xfrm>
            <a:off x="8046720" y="1645920"/>
            <a:ext cx="3566160" cy="1371600"/>
          </a:xfrm>
          <a:prstGeom prst="roundRect">
            <a:avLst>
              <a:gd name="adj" fmla="val 6667"/>
            </a:avLst>
          </a:prstGeom>
          <a:solidFill>
            <a:srgbClr val="F7F5F1"/>
          </a:solidFill>
          <a:ln w="9525">
            <a:solidFill>
              <a:srgbClr val="DDD8CF"/>
            </a:solidFill>
            <a:prstDash val="solid"/>
          </a:ln>
        </p:spPr>
      </p:sp>
      <p:sp>
        <p:nvSpPr>
          <p:cNvPr id="15" name="text"/>
          <p:cNvSpPr txBox="1"/>
          <p:nvPr/>
        </p:nvSpPr>
        <p:spPr>
          <a:xfrm>
            <a:off x="8183880" y="1737360"/>
            <a:ext cx="3291840" cy="228600"/>
          </a:xfrm>
          <a:prstGeom prst="rect">
            <a:avLst/>
          </a:prstGeom>
          <a:noFill/>
          <a:ln/>
        </p:spPr>
        <p:txBody>
          <a:bodyPr wrap="square" lIns="0" tIns="0" rIns="0" bIns="0" rtlCol="0" anchor="t"/>
          <a:lstStyle/>
          <a:p>
            <a:pPr indent="0" marL="0">
              <a:buNone/>
            </a:pPr>
            <a:r>
              <a:rPr lang="en-US" sz="900" b="1" spc="200" kern="0" dirty="0">
                <a:solidFill>
                  <a:srgbClr val="B4643A"/>
                </a:solidFill>
              </a:rPr>
              <a:t>FILE, NARROW</a:t>
            </a:r>
            <a:endParaRPr lang="en-US" sz="900" dirty="0"/>
          </a:p>
        </p:txBody>
      </p:sp>
      <p:sp>
        <p:nvSpPr>
          <p:cNvPr id="16" name="text"/>
          <p:cNvSpPr txBox="1"/>
          <p:nvPr/>
        </p:nvSpPr>
        <p:spPr>
          <a:xfrm>
            <a:off x="8183880" y="1965960"/>
            <a:ext cx="3291840" cy="457200"/>
          </a:xfrm>
          <a:prstGeom prst="rect">
            <a:avLst/>
          </a:prstGeom>
          <a:noFill/>
          <a:ln/>
        </p:spPr>
        <p:txBody>
          <a:bodyPr wrap="square" lIns="0" tIns="0" rIns="0" bIns="0" rtlCol="0" anchor="t"/>
          <a:lstStyle/>
          <a:p>
            <a:pPr indent="0" marL="0">
              <a:buNone/>
            </a:pPr>
            <a:r>
              <a:rPr lang="en-US" sz="1200" b="1" dirty="0">
                <a:solidFill>
                  <a:srgbClr val="15191C"/>
                </a:solidFill>
              </a:rPr>
              <a:t>Jets on a grate lip, doubled outlet header, outlet orifice row</a:t>
            </a:r>
            <a:endParaRPr lang="en-US" sz="1200" dirty="0"/>
          </a:p>
        </p:txBody>
      </p:sp>
      <p:sp>
        <p:nvSpPr>
          <p:cNvPr id="17" name="text"/>
          <p:cNvSpPr txBox="1"/>
          <p:nvPr/>
        </p:nvSpPr>
        <p:spPr>
          <a:xfrm>
            <a:off x="8183880" y="2423160"/>
            <a:ext cx="3291840" cy="548640"/>
          </a:xfrm>
          <a:prstGeom prst="rect">
            <a:avLst/>
          </a:prstGeom>
          <a:noFill/>
          <a:ln/>
        </p:spPr>
        <p:txBody>
          <a:bodyPr wrap="square" lIns="0" tIns="0" rIns="0" bIns="0" rtlCol="0" anchor="t"/>
          <a:lstStyle/>
          <a:p>
            <a:pPr indent="0" marL="0">
              <a:buNone/>
            </a:pPr>
            <a:r>
              <a:rPr lang="en-US" sz="950" dirty="0">
                <a:solidFill>
                  <a:srgbClr val="4A5058"/>
                </a:solidFill>
              </a:rPr>
              <a:t>No erosion on fins, no Microfabrica exposure; segment imbalance 1.36 to 1.06 at no height cost.</a:t>
            </a:r>
            <a:endParaRPr lang="en-US" sz="950" dirty="0"/>
          </a:p>
        </p:txBody>
      </p:sp>
      <p:sp>
        <p:nvSpPr>
          <p:cNvPr id="18" name="innovation 4"/>
          <p:cNvSpPr/>
          <p:nvPr/>
        </p:nvSpPr>
        <p:spPr>
          <a:xfrm>
            <a:off x="548640" y="3108960"/>
            <a:ext cx="3566160" cy="1371600"/>
          </a:xfrm>
          <a:prstGeom prst="roundRect">
            <a:avLst>
              <a:gd name="adj" fmla="val 6667"/>
            </a:avLst>
          </a:prstGeom>
          <a:solidFill>
            <a:srgbClr val="F7F5F1"/>
          </a:solidFill>
          <a:ln w="9525">
            <a:solidFill>
              <a:srgbClr val="DDD8CF"/>
            </a:solidFill>
            <a:prstDash val="solid"/>
          </a:ln>
        </p:spPr>
      </p:sp>
      <p:sp>
        <p:nvSpPr>
          <p:cNvPr id="19" name="text"/>
          <p:cNvSpPr txBox="1"/>
          <p:nvPr/>
        </p:nvSpPr>
        <p:spPr>
          <a:xfrm>
            <a:off x="685800" y="3200400"/>
            <a:ext cx="3291840" cy="228600"/>
          </a:xfrm>
          <a:prstGeom prst="rect">
            <a:avLst/>
          </a:prstGeom>
          <a:noFill/>
          <a:ln/>
        </p:spPr>
        <p:txBody>
          <a:bodyPr wrap="square" lIns="0" tIns="0" rIns="0" bIns="0" rtlCol="0" anchor="t"/>
          <a:lstStyle/>
          <a:p>
            <a:pPr indent="0" marL="0">
              <a:buNone/>
            </a:pPr>
            <a:r>
              <a:rPr lang="en-US" sz="900" b="1" spc="200" kern="0" dirty="0">
                <a:solidFill>
                  <a:srgbClr val="2F6F8F"/>
                </a:solidFill>
              </a:rPr>
              <a:t>DEFENSIVE PUBLICATION</a:t>
            </a:r>
            <a:endParaRPr lang="en-US" sz="900" dirty="0"/>
          </a:p>
        </p:txBody>
      </p:sp>
      <p:sp>
        <p:nvSpPr>
          <p:cNvPr id="20" name="text"/>
          <p:cNvSpPr txBox="1"/>
          <p:nvPr/>
        </p:nvSpPr>
        <p:spPr>
          <a:xfrm>
            <a:off x="685800" y="3429000"/>
            <a:ext cx="3291840" cy="457200"/>
          </a:xfrm>
          <a:prstGeom prst="rect">
            <a:avLst/>
          </a:prstGeom>
          <a:noFill/>
          <a:ln/>
        </p:spPr>
        <p:txBody>
          <a:bodyPr wrap="square" lIns="0" tIns="0" rIns="0" bIns="0" rtlCol="0" anchor="t"/>
          <a:lstStyle/>
          <a:p>
            <a:pPr indent="0" marL="0">
              <a:buNone/>
            </a:pPr>
            <a:r>
              <a:rPr lang="en-US" sz="1200" b="1" dirty="0">
                <a:solidFill>
                  <a:srgbClr val="15191C"/>
                </a:solidFill>
              </a:rPr>
              <a:t>Flux-graded flow length</a:t>
            </a:r>
            <a:endParaRPr lang="en-US" sz="1200" dirty="0"/>
          </a:p>
        </p:txBody>
      </p:sp>
      <p:sp>
        <p:nvSpPr>
          <p:cNvPr id="21" name="text"/>
          <p:cNvSpPr txBox="1"/>
          <p:nvPr/>
        </p:nvSpPr>
        <p:spPr>
          <a:xfrm>
            <a:off x="685800" y="3886200"/>
            <a:ext cx="3291840" cy="548640"/>
          </a:xfrm>
          <a:prstGeom prst="rect">
            <a:avLst/>
          </a:prstGeom>
          <a:noFill/>
          <a:ln/>
        </p:spPr>
        <p:txBody>
          <a:bodyPr wrap="square" lIns="0" tIns="0" rIns="0" bIns="0" rtlCol="0" anchor="t"/>
          <a:lstStyle/>
          <a:p>
            <a:pPr indent="0" marL="0">
              <a:buNone/>
            </a:pPr>
            <a:r>
              <a:rPr lang="en-US" sz="950" dirty="0">
                <a:solidFill>
                  <a:srgbClr val="4A5058"/>
                </a:solidFill>
              </a:rPr>
              <a:t>5 to 6 mm over dies, 12 mm over margins; partly anticipated, so published rather than filed.</a:t>
            </a:r>
            <a:endParaRPr lang="en-US" sz="950" dirty="0"/>
          </a:p>
        </p:txBody>
      </p:sp>
      <p:sp>
        <p:nvSpPr>
          <p:cNvPr id="22" name="innovation 5"/>
          <p:cNvSpPr/>
          <p:nvPr/>
        </p:nvSpPr>
        <p:spPr>
          <a:xfrm>
            <a:off x="4297680" y="3108960"/>
            <a:ext cx="3566160" cy="1371600"/>
          </a:xfrm>
          <a:prstGeom prst="roundRect">
            <a:avLst>
              <a:gd name="adj" fmla="val 6667"/>
            </a:avLst>
          </a:prstGeom>
          <a:solidFill>
            <a:srgbClr val="F7F5F1"/>
          </a:solidFill>
          <a:ln w="9525">
            <a:solidFill>
              <a:srgbClr val="DDD8CF"/>
            </a:solidFill>
            <a:prstDash val="solid"/>
          </a:ln>
        </p:spPr>
      </p:sp>
      <p:sp>
        <p:nvSpPr>
          <p:cNvPr id="23" name="text"/>
          <p:cNvSpPr txBox="1"/>
          <p:nvPr/>
        </p:nvSpPr>
        <p:spPr>
          <a:xfrm>
            <a:off x="4434840" y="3200400"/>
            <a:ext cx="3291840" cy="228600"/>
          </a:xfrm>
          <a:prstGeom prst="rect">
            <a:avLst/>
          </a:prstGeom>
          <a:noFill/>
          <a:ln/>
        </p:spPr>
        <p:txBody>
          <a:bodyPr wrap="square" lIns="0" tIns="0" rIns="0" bIns="0" rtlCol="0" anchor="t"/>
          <a:lstStyle/>
          <a:p>
            <a:pPr indent="0" marL="0">
              <a:buNone/>
            </a:pPr>
            <a:r>
              <a:rPr lang="en-US" sz="900" b="1" spc="200" kern="0" dirty="0">
                <a:solidFill>
                  <a:srgbClr val="15191C"/>
                </a:solidFill>
              </a:rPr>
              <a:t>TRADE SECRET</a:t>
            </a:r>
            <a:endParaRPr lang="en-US" sz="900" dirty="0"/>
          </a:p>
        </p:txBody>
      </p:sp>
      <p:sp>
        <p:nvSpPr>
          <p:cNvPr id="24" name="text"/>
          <p:cNvSpPr txBox="1"/>
          <p:nvPr/>
        </p:nvSpPr>
        <p:spPr>
          <a:xfrm>
            <a:off x="4434840" y="3429000"/>
            <a:ext cx="3291840" cy="457200"/>
          </a:xfrm>
          <a:prstGeom prst="rect">
            <a:avLst/>
          </a:prstGeom>
          <a:noFill/>
          <a:ln/>
        </p:spPr>
        <p:txBody>
          <a:bodyPr wrap="square" lIns="0" tIns="0" rIns="0" bIns="0" rtlCol="0" anchor="t"/>
          <a:lstStyle/>
          <a:p>
            <a:pPr indent="0" marL="0">
              <a:buNone/>
            </a:pPr>
            <a:r>
              <a:rPr lang="en-US" sz="1200" b="1" dirty="0">
                <a:solidFill>
                  <a:srgbClr val="15191C"/>
                </a:solidFill>
              </a:rPr>
              <a:t>Tie-braze recipe and per-strip detection</a:t>
            </a:r>
            <a:endParaRPr lang="en-US" sz="1200" dirty="0"/>
          </a:p>
        </p:txBody>
      </p:sp>
      <p:sp>
        <p:nvSpPr>
          <p:cNvPr id="25" name="text"/>
          <p:cNvSpPr txBox="1"/>
          <p:nvPr/>
        </p:nvSpPr>
        <p:spPr>
          <a:xfrm>
            <a:off x="4434840" y="3886200"/>
            <a:ext cx="3291840" cy="548640"/>
          </a:xfrm>
          <a:prstGeom prst="rect">
            <a:avLst/>
          </a:prstGeom>
          <a:noFill/>
          <a:ln/>
        </p:spPr>
        <p:txBody>
          <a:bodyPr wrap="square" lIns="0" tIns="0" rIns="0" bIns="0" rtlCol="0" anchor="t"/>
          <a:lstStyle/>
          <a:p>
            <a:pPr indent="0" marL="0">
              <a:buNone/>
            </a:pPr>
            <a:r>
              <a:rPr lang="en-US" sz="950" dirty="0">
                <a:solidFill>
                  <a:srgbClr val="4A5058"/>
                </a:solidFill>
              </a:rPr>
              <a:t>Capillary-break grooves, masked lands, the differential-expansion fixture, the confocal bulge map.</a:t>
            </a:r>
            <a:endParaRPr lang="en-US" sz="950" dirty="0"/>
          </a:p>
        </p:txBody>
      </p:sp>
      <p:sp>
        <p:nvSpPr>
          <p:cNvPr id="26" name="innovation 6"/>
          <p:cNvSpPr/>
          <p:nvPr/>
        </p:nvSpPr>
        <p:spPr>
          <a:xfrm>
            <a:off x="8046720" y="3108960"/>
            <a:ext cx="3566160" cy="1371600"/>
          </a:xfrm>
          <a:prstGeom prst="roundRect">
            <a:avLst>
              <a:gd name="adj" fmla="val 6667"/>
            </a:avLst>
          </a:prstGeom>
          <a:solidFill>
            <a:srgbClr val="F7F5F1"/>
          </a:solidFill>
          <a:ln w="9525">
            <a:solidFill>
              <a:srgbClr val="DDD8CF"/>
            </a:solidFill>
            <a:prstDash val="solid"/>
          </a:ln>
        </p:spPr>
      </p:sp>
      <p:sp>
        <p:nvSpPr>
          <p:cNvPr id="27" name="text"/>
          <p:cNvSpPr txBox="1"/>
          <p:nvPr/>
        </p:nvSpPr>
        <p:spPr>
          <a:xfrm>
            <a:off x="8183880" y="3200400"/>
            <a:ext cx="3291840" cy="228600"/>
          </a:xfrm>
          <a:prstGeom prst="rect">
            <a:avLst/>
          </a:prstGeom>
          <a:noFill/>
          <a:ln/>
        </p:spPr>
        <p:txBody>
          <a:bodyPr wrap="square" lIns="0" tIns="0" rIns="0" bIns="0" rtlCol="0" anchor="t"/>
          <a:lstStyle/>
          <a:p>
            <a:pPr indent="0" marL="0">
              <a:buNone/>
            </a:pPr>
            <a:r>
              <a:rPr lang="en-US" sz="900" b="1" spc="200" kern="0" dirty="0">
                <a:solidFill>
                  <a:srgbClr val="15191C"/>
                </a:solidFill>
              </a:rPr>
              <a:t>TRADE SECRET</a:t>
            </a:r>
            <a:endParaRPr lang="en-US" sz="900" dirty="0"/>
          </a:p>
        </p:txBody>
      </p:sp>
      <p:sp>
        <p:nvSpPr>
          <p:cNvPr id="28" name="text"/>
          <p:cNvSpPr txBox="1"/>
          <p:nvPr/>
        </p:nvSpPr>
        <p:spPr>
          <a:xfrm>
            <a:off x="8183880" y="3429000"/>
            <a:ext cx="3291840" cy="457200"/>
          </a:xfrm>
          <a:prstGeom prst="rect">
            <a:avLst/>
          </a:prstGeom>
          <a:noFill/>
          <a:ln/>
        </p:spPr>
        <p:txBody>
          <a:bodyPr wrap="square" lIns="0" tIns="0" rIns="0" bIns="0" rtlCol="0" anchor="t"/>
          <a:lstStyle/>
          <a:p>
            <a:pPr indent="0" marL="0">
              <a:buNone/>
            </a:pPr>
            <a:r>
              <a:rPr lang="en-US" sz="1200" b="1" dirty="0">
                <a:solidFill>
                  <a:srgbClr val="15191C"/>
                </a:solidFill>
              </a:rPr>
              <a:t>Artwork-per-SKU zoning tool</a:t>
            </a:r>
            <a:endParaRPr lang="en-US" sz="1200" dirty="0"/>
          </a:p>
        </p:txBody>
      </p:sp>
      <p:sp>
        <p:nvSpPr>
          <p:cNvPr id="29" name="text"/>
          <p:cNvSpPr txBox="1"/>
          <p:nvPr/>
        </p:nvSpPr>
        <p:spPr>
          <a:xfrm>
            <a:off x="8183880" y="3886200"/>
            <a:ext cx="3291840" cy="548640"/>
          </a:xfrm>
          <a:prstGeom prst="rect">
            <a:avLst/>
          </a:prstGeom>
          <a:noFill/>
          <a:ln/>
        </p:spPr>
        <p:txBody>
          <a:bodyPr wrap="square" lIns="0" tIns="0" rIns="0" bIns="0" rtlCol="0" anchor="t"/>
          <a:lstStyle/>
          <a:p>
            <a:pPr indent="0" marL="0">
              <a:buNone/>
            </a:pPr>
            <a:r>
              <a:rPr lang="en-US" sz="950" dirty="0">
                <a:solidFill>
                  <a:srgbClr val="4A5058"/>
                </a:solidFill>
              </a:rPr>
              <a:t>A new package is a laser file in two to three weeks; the solver that grades 756 orifices stays in-house.</a:t>
            </a:r>
            <a:endParaRPr lang="en-US" sz="950" dirty="0"/>
          </a:p>
        </p:txBody>
      </p:sp>
      <p:sp>
        <p:nvSpPr>
          <p:cNvPr id="30" name="innovation 7"/>
          <p:cNvSpPr/>
          <p:nvPr/>
        </p:nvSpPr>
        <p:spPr>
          <a:xfrm>
            <a:off x="548640" y="4572000"/>
            <a:ext cx="3566160" cy="1371600"/>
          </a:xfrm>
          <a:prstGeom prst="roundRect">
            <a:avLst>
              <a:gd name="adj" fmla="val 6667"/>
            </a:avLst>
          </a:prstGeom>
          <a:solidFill>
            <a:srgbClr val="F7F5F1"/>
          </a:solidFill>
          <a:ln w="9525">
            <a:solidFill>
              <a:srgbClr val="DDD8CF"/>
            </a:solidFill>
            <a:prstDash val="solid"/>
          </a:ln>
        </p:spPr>
      </p:sp>
      <p:sp>
        <p:nvSpPr>
          <p:cNvPr id="31" name="text"/>
          <p:cNvSpPr txBox="1"/>
          <p:nvPr/>
        </p:nvSpPr>
        <p:spPr>
          <a:xfrm>
            <a:off x="685800" y="4663440"/>
            <a:ext cx="3291840" cy="228600"/>
          </a:xfrm>
          <a:prstGeom prst="rect">
            <a:avLst/>
          </a:prstGeom>
          <a:noFill/>
          <a:ln/>
        </p:spPr>
        <p:txBody>
          <a:bodyPr wrap="square" lIns="0" tIns="0" rIns="0" bIns="0" rtlCol="0" anchor="t"/>
          <a:lstStyle/>
          <a:p>
            <a:pPr indent="0" marL="0">
              <a:buNone/>
            </a:pPr>
            <a:r>
              <a:rPr lang="en-US" sz="900" b="1" spc="200" kern="0" dirty="0">
                <a:solidFill>
                  <a:srgbClr val="2F6F8F"/>
                </a:solidFill>
              </a:rPr>
              <a:t>KNOW-HOW</a:t>
            </a:r>
            <a:endParaRPr lang="en-US" sz="900" dirty="0"/>
          </a:p>
        </p:txBody>
      </p:sp>
      <p:sp>
        <p:nvSpPr>
          <p:cNvPr id="32" name="text"/>
          <p:cNvSpPr txBox="1"/>
          <p:nvPr/>
        </p:nvSpPr>
        <p:spPr>
          <a:xfrm>
            <a:off x="685800" y="4892040"/>
            <a:ext cx="3291840" cy="457200"/>
          </a:xfrm>
          <a:prstGeom prst="rect">
            <a:avLst/>
          </a:prstGeom>
          <a:noFill/>
          <a:ln/>
        </p:spPr>
        <p:txBody>
          <a:bodyPr wrap="square" lIns="0" tIns="0" rIns="0" bIns="0" rtlCol="0" anchor="t"/>
          <a:lstStyle/>
          <a:p>
            <a:pPr indent="0" marL="0">
              <a:buNone/>
            </a:pPr>
            <a:r>
              <a:rPr lang="en-US" sz="1200" b="1" dirty="0">
                <a:solidFill>
                  <a:srgbClr val="15191C"/>
                </a:solidFill>
              </a:rPr>
              <a:t>Folded plenum and drawn skirted cap</a:t>
            </a:r>
            <a:endParaRPr lang="en-US" sz="1200" dirty="0"/>
          </a:p>
        </p:txBody>
      </p:sp>
      <p:sp>
        <p:nvSpPr>
          <p:cNvPr id="33" name="text"/>
          <p:cNvSpPr txBox="1"/>
          <p:nvPr/>
        </p:nvSpPr>
        <p:spPr>
          <a:xfrm>
            <a:off x="685800" y="5349240"/>
            <a:ext cx="3291840" cy="548640"/>
          </a:xfrm>
          <a:prstGeom prst="rect">
            <a:avLst/>
          </a:prstGeom>
          <a:noFill/>
          <a:ln/>
        </p:spPr>
        <p:txBody>
          <a:bodyPr wrap="square" lIns="0" tIns="0" rIns="0" bIns="0" rtlCol="0" anchor="t"/>
          <a:lstStyle/>
          <a:p>
            <a:pPr indent="0" marL="0">
              <a:buNone/>
            </a:pPr>
            <a:r>
              <a:rPr lang="en-US" sz="950" dirty="0">
                <a:solidFill>
                  <a:srgbClr val="4A5058"/>
                </a:solidFill>
              </a:rPr>
              <a:t>Fifteen channels from one sheet; one external seam instead of four to six.</a:t>
            </a:r>
            <a:endParaRPr lang="en-US" sz="950" dirty="0"/>
          </a:p>
        </p:txBody>
      </p:sp>
      <p:sp>
        <p:nvSpPr>
          <p:cNvPr id="34" name="innovation 8"/>
          <p:cNvSpPr/>
          <p:nvPr/>
        </p:nvSpPr>
        <p:spPr>
          <a:xfrm>
            <a:off x="4297680" y="4572000"/>
            <a:ext cx="3566160" cy="1371600"/>
          </a:xfrm>
          <a:prstGeom prst="roundRect">
            <a:avLst>
              <a:gd name="adj" fmla="val 6667"/>
            </a:avLst>
          </a:prstGeom>
          <a:solidFill>
            <a:srgbClr val="F7F5F1"/>
          </a:solidFill>
          <a:ln w="9525">
            <a:solidFill>
              <a:srgbClr val="DDD8CF"/>
            </a:solidFill>
            <a:prstDash val="solid"/>
          </a:ln>
        </p:spPr>
      </p:sp>
      <p:sp>
        <p:nvSpPr>
          <p:cNvPr id="35" name="text"/>
          <p:cNvSpPr txBox="1"/>
          <p:nvPr/>
        </p:nvSpPr>
        <p:spPr>
          <a:xfrm>
            <a:off x="4434840" y="4663440"/>
            <a:ext cx="3291840" cy="228600"/>
          </a:xfrm>
          <a:prstGeom prst="rect">
            <a:avLst/>
          </a:prstGeom>
          <a:noFill/>
          <a:ln/>
        </p:spPr>
        <p:txBody>
          <a:bodyPr wrap="square" lIns="0" tIns="0" rIns="0" bIns="0" rtlCol="0" anchor="t"/>
          <a:lstStyle/>
          <a:p>
            <a:pPr indent="0" marL="0">
              <a:buNone/>
            </a:pPr>
            <a:r>
              <a:rPr lang="en-US" sz="900" b="1" spc="200" kern="0" dirty="0">
                <a:solidFill>
                  <a:srgbClr val="2F6F8F"/>
                </a:solidFill>
              </a:rPr>
              <a:t>PUBLISH VIA OCP</a:t>
            </a:r>
            <a:endParaRPr lang="en-US" sz="900" dirty="0"/>
          </a:p>
        </p:txBody>
      </p:sp>
      <p:sp>
        <p:nvSpPr>
          <p:cNvPr id="36" name="text"/>
          <p:cNvSpPr txBox="1"/>
          <p:nvPr/>
        </p:nvSpPr>
        <p:spPr>
          <a:xfrm>
            <a:off x="4434840" y="4892040"/>
            <a:ext cx="3291840" cy="457200"/>
          </a:xfrm>
          <a:prstGeom prst="rect">
            <a:avLst/>
          </a:prstGeom>
          <a:noFill/>
          <a:ln/>
        </p:spPr>
        <p:txBody>
          <a:bodyPr wrap="square" lIns="0" tIns="0" rIns="0" bIns="0" rtlCol="0" anchor="t"/>
          <a:lstStyle/>
          <a:p>
            <a:pPr indent="0" marL="0">
              <a:buNone/>
            </a:pPr>
            <a:r>
              <a:rPr lang="en-US" sz="1200" b="1" dirty="0">
                <a:solidFill>
                  <a:srgbClr val="15191C"/>
                </a:solidFill>
              </a:rPr>
              <a:t>Fin-field dP taps and the filtration ladder</a:t>
            </a:r>
            <a:endParaRPr lang="en-US" sz="1200" dirty="0"/>
          </a:p>
        </p:txBody>
      </p:sp>
      <p:sp>
        <p:nvSpPr>
          <p:cNvPr id="37" name="text"/>
          <p:cNvSpPr txBox="1"/>
          <p:nvPr/>
        </p:nvSpPr>
        <p:spPr>
          <a:xfrm>
            <a:off x="4434840" y="5349240"/>
            <a:ext cx="3291840" cy="548640"/>
          </a:xfrm>
          <a:prstGeom prst="rect">
            <a:avLst/>
          </a:prstGeom>
          <a:noFill/>
          <a:ln/>
        </p:spPr>
        <p:txBody>
          <a:bodyPr wrap="square" lIns="0" tIns="0" rIns="0" bIns="0" rtlCol="0" anchor="t"/>
          <a:lstStyle/>
          <a:p>
            <a:pPr indent="0" marL="0">
              <a:buNone/>
            </a:pPr>
            <a:r>
              <a:rPr lang="en-US" sz="950" dirty="0">
                <a:solidFill>
                  <a:srgbClr val="4A5058"/>
                </a:solidFill>
              </a:rPr>
              <a:t>A fouling signature read at the fins; 50 µm guard in the boss plus a 33 µm tray cartridge.</a:t>
            </a:r>
            <a:endParaRPr lang="en-US" sz="950" dirty="0"/>
          </a:p>
        </p:txBody>
      </p:sp>
      <p:sp>
        <p:nvSpPr>
          <p:cNvPr id="38" name="innovation 9"/>
          <p:cNvSpPr/>
          <p:nvPr/>
        </p:nvSpPr>
        <p:spPr>
          <a:xfrm>
            <a:off x="8046720" y="4572000"/>
            <a:ext cx="3566160" cy="1371600"/>
          </a:xfrm>
          <a:prstGeom prst="roundRect">
            <a:avLst>
              <a:gd name="adj" fmla="val 6667"/>
            </a:avLst>
          </a:prstGeom>
          <a:solidFill>
            <a:srgbClr val="F7F5F1"/>
          </a:solidFill>
          <a:ln w="9525">
            <a:solidFill>
              <a:srgbClr val="DDD8CF"/>
            </a:solidFill>
            <a:prstDash val="solid"/>
          </a:ln>
        </p:spPr>
      </p:sp>
      <p:sp>
        <p:nvSpPr>
          <p:cNvPr id="39" name="text"/>
          <p:cNvSpPr txBox="1"/>
          <p:nvPr/>
        </p:nvSpPr>
        <p:spPr>
          <a:xfrm>
            <a:off x="8183880" y="4663440"/>
            <a:ext cx="3291840" cy="228600"/>
          </a:xfrm>
          <a:prstGeom prst="rect">
            <a:avLst/>
          </a:prstGeom>
          <a:noFill/>
          <a:ln/>
        </p:spPr>
        <p:txBody>
          <a:bodyPr wrap="square" lIns="0" tIns="0" rIns="0" bIns="0" rtlCol="0" anchor="t"/>
          <a:lstStyle/>
          <a:p>
            <a:pPr indent="0" marL="0">
              <a:buNone/>
            </a:pPr>
            <a:r>
              <a:rPr lang="en-US" sz="900" b="1" spc="200" kern="0" dirty="0">
                <a:solidFill>
                  <a:srgbClr val="2F6F8F"/>
                </a:solidFill>
              </a:rPr>
              <a:t>DEFENSIVE PUBLICATION</a:t>
            </a:r>
            <a:endParaRPr lang="en-US" sz="900" dirty="0"/>
          </a:p>
        </p:txBody>
      </p:sp>
      <p:sp>
        <p:nvSpPr>
          <p:cNvPr id="40" name="text"/>
          <p:cNvSpPr txBox="1"/>
          <p:nvPr/>
        </p:nvSpPr>
        <p:spPr>
          <a:xfrm>
            <a:off x="8183880" y="4892040"/>
            <a:ext cx="3291840" cy="457200"/>
          </a:xfrm>
          <a:prstGeom prst="rect">
            <a:avLst/>
          </a:prstGeom>
          <a:noFill/>
          <a:ln/>
        </p:spPr>
        <p:txBody>
          <a:bodyPr wrap="square" lIns="0" tIns="0" rIns="0" bIns="0" rtlCol="0" anchor="t"/>
          <a:lstStyle/>
          <a:p>
            <a:pPr indent="0" marL="0">
              <a:buNone/>
            </a:pPr>
            <a:r>
              <a:rPr lang="en-US" sz="1200" b="1" dirty="0">
                <a:solidFill>
                  <a:srgbClr val="15191C"/>
                </a:solidFill>
              </a:rPr>
              <a:t>Transparent test method</a:t>
            </a:r>
            <a:endParaRPr lang="en-US" sz="1200" dirty="0"/>
          </a:p>
        </p:txBody>
      </p:sp>
      <p:sp>
        <p:nvSpPr>
          <p:cNvPr id="41" name="text"/>
          <p:cNvSpPr txBox="1"/>
          <p:nvPr/>
        </p:nvSpPr>
        <p:spPr>
          <a:xfrm>
            <a:off x="8183880" y="5349240"/>
            <a:ext cx="3291840" cy="548640"/>
          </a:xfrm>
          <a:prstGeom prst="rect">
            <a:avLst/>
          </a:prstGeom>
          <a:noFill/>
          <a:ln/>
        </p:spPr>
        <p:txBody>
          <a:bodyPr wrap="square" lIns="0" tIns="0" rIns="0" bIns="0" rtlCol="0" anchor="t"/>
          <a:lstStyle/>
          <a:p>
            <a:pPr indent="0" marL="0">
              <a:buNone/>
            </a:pPr>
            <a:r>
              <a:rPr lang="en-US" sz="950" dirty="0">
                <a:solidFill>
                  <a:srgbClr val="4A5058"/>
                </a:solidFill>
              </a:rPr>
              <a:t>Two vehicles, three dP boundaries, independent repeat; cleared against the NVIDIA heater-vehicle patent first.</a:t>
            </a:r>
            <a:endParaRPr lang="en-US" sz="950" dirty="0"/>
          </a:p>
        </p:txBody>
      </p:sp>
      <p:sp>
        <p:nvSpPr>
          <p:cNvPr id="42" name="text"/>
          <p:cNvSpPr txBox="1"/>
          <p:nvPr/>
        </p:nvSpPr>
        <p:spPr>
          <a:xfrm>
            <a:off x="548640" y="5989320"/>
            <a:ext cx="11064240" cy="411480"/>
          </a:xfrm>
          <a:prstGeom prst="rect">
            <a:avLst/>
          </a:prstGeom>
          <a:noFill/>
          <a:ln/>
        </p:spPr>
        <p:txBody>
          <a:bodyPr wrap="square" lIns="0" tIns="0" rIns="0" bIns="0" rtlCol="0" anchor="t"/>
          <a:lstStyle/>
          <a:p>
            <a:pPr indent="0" marL="0">
              <a:buNone/>
            </a:pPr>
            <a:r>
              <a:rPr lang="en-US" sz="1000" dirty="0">
                <a:solidFill>
                  <a:srgbClr val="8F8A82"/>
                </a:solidFill>
              </a:rPr>
              <a:t>Three stretch items beyond Rev A: chevron-staggered lines (about −1.3 K on the maximum), viscous self-balancing for zoned SKUs, a 0.60 mm base with thermographic tie verification. Time to copy after disclosure: 12 to 24 months.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APPLICATIONS</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AI accelerators first, SiC power conversion second, storage drives never</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20</a:t>
            </a:r>
            <a:endParaRPr lang="en-US" sz="90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6400800" cy="914400"/>
        </p:xfrm>
        <a:graphic>
          <a:graphicData uri="http://schemas.openxmlformats.org/drawingml/2006/table">
            <a:tbl>
              <a:tblPr/>
              <a:tblGrid>
                <a:gridCol w="548640"/>
                <a:gridCol w="2743200"/>
                <a:gridCol w="1737360"/>
                <a:gridCol w="1371600"/>
              </a:tblGrid>
              <a:tr h="0">
                <a:tc>
                  <a:txBody>
                    <a:bodyPr/>
                    <a:lstStyle/>
                    <a:p>
                      <a:pPr indent="0" marL="0">
                        <a:buNone/>
                      </a:pPr>
                      <a:r>
                        <a:rPr lang="en-US" sz="1000" b="1" dirty="0">
                          <a:solidFill>
                            <a:srgbClr val="15191C"/>
                          </a:solidFill>
                          <a:latin typeface="+mn-lt" pitchFamily="34" charset="0"/>
                          <a:ea typeface="+mn-lt" pitchFamily="34" charset="-122"/>
                          <a:cs typeface="+mn-lt" pitchFamily="34" charset="-120"/>
                        </a:rPr>
                        <a:t>Rank</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Application</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Variant</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Entry</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A1</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Hyperscaler custom ASICs (TPU, Trainium, Maia, MTIA class)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PRISM-15 or PRISM-G zoned, R+ with tray filter</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samples M12–15, volume 2029</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A2</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NVIDIA reference designs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PRISM-G; micro-channel-lid insert</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via NVIDIA thermal engineering, 2029–30</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A3</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15–30 kW modules, Kyber-class blades, wafer-scale tiles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PRISM-15, -15-HF, -W</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2028–29</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A4</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CPU, NVSwitch, co-packaged optics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PRISM-S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rack kits only</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P1</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800 VDC rectifier and solid-state-transformer SiC modules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PRISM-DC direct-substrate cooler</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demonstrator M9–12, volume 2028+</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P2</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800 VDC shelf plates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keyed-orifice plate</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rack kits only</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P3</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SiC traction</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PRISM-A</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licence 2028, vehicles 2030–31</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bl>
          </a:graphicData>
        </a:graphic>
      </p:graphicFrame>
      <p:sp>
        <p:nvSpPr>
          <p:cNvPr id="7" name="card Why AI data centres first"/>
          <p:cNvSpPr/>
          <p:nvPr/>
        </p:nvSpPr>
        <p:spPr>
          <a:xfrm>
            <a:off x="7223760" y="1645920"/>
            <a:ext cx="4389120" cy="1325880"/>
          </a:xfrm>
          <a:prstGeom prst="roundRect">
            <a:avLst>
              <a:gd name="adj" fmla="val 8276"/>
            </a:avLst>
          </a:prstGeom>
          <a:solidFill>
            <a:srgbClr val="F7F5F1"/>
          </a:solidFill>
          <a:ln w="9525">
            <a:solidFill>
              <a:srgbClr val="DDD8CF"/>
            </a:solidFill>
            <a:prstDash val="solid"/>
          </a:ln>
        </p:spPr>
      </p:sp>
      <p:sp>
        <p:nvSpPr>
          <p:cNvPr id="8" name="card head Why AI data centres first"/>
          <p:cNvSpPr txBox="1"/>
          <p:nvPr/>
        </p:nvSpPr>
        <p:spPr>
          <a:xfrm>
            <a:off x="7406640" y="1755648"/>
            <a:ext cx="4023360" cy="347472"/>
          </a:xfrm>
          <a:prstGeom prst="rect">
            <a:avLst/>
          </a:prstGeom>
          <a:noFill/>
          <a:ln/>
        </p:spPr>
        <p:txBody>
          <a:bodyPr wrap="square" lIns="0" tIns="0" rIns="0" bIns="0" rtlCol="0" anchor="t"/>
          <a:lstStyle/>
          <a:p>
            <a:pPr indent="0" marL="0">
              <a:buNone/>
            </a:pPr>
            <a:r>
              <a:rPr lang="en-US" sz="1400" b="1" dirty="0">
                <a:solidFill>
                  <a:srgbClr val="15191C"/>
                </a:solidFill>
              </a:rPr>
              <a:t>Why AI data centres first</a:t>
            </a:r>
            <a:endParaRPr lang="en-US" sz="1400" dirty="0"/>
          </a:p>
        </p:txBody>
      </p:sp>
      <p:sp>
        <p:nvSpPr>
          <p:cNvPr id="9" name="card body Why AI data centres first"/>
          <p:cNvSpPr txBox="1"/>
          <p:nvPr/>
        </p:nvSpPr>
        <p:spPr>
          <a:xfrm>
            <a:off x="7406640" y="2121408"/>
            <a:ext cx="4023360" cy="758952"/>
          </a:xfrm>
          <a:prstGeom prst="rect">
            <a:avLst/>
          </a:prstGeom>
          <a:noFill/>
          <a:ln/>
        </p:spPr>
        <p:txBody>
          <a:bodyPr wrap="square" lIns="0" tIns="0" rIns="0" bIns="0" rtlCol="0" anchor="t"/>
          <a:lstStyle/>
          <a:p>
            <a:pPr indent="0" marL="0">
              <a:buNone/>
            </a:pPr>
            <a:r>
              <a:rPr lang="en-US" sz="1050" dirty="0">
                <a:solidFill>
                  <a:srgbClr val="4A5058"/>
                </a:solidFill>
              </a:rPr>
              <a:t>The plate is sized and tested for the 15 kW class and scales to the GPU envelope on the same tooling. Buyers who control package, tray and loop can adopt the tray filter and the R+ grade.</a:t>
            </a:r>
            <a:endParaRPr lang="en-US" sz="1050" dirty="0"/>
          </a:p>
        </p:txBody>
      </p:sp>
      <p:sp>
        <p:nvSpPr>
          <p:cNvPr id="10" name="card SiC converters: a 27 % smaller junction swing"/>
          <p:cNvSpPr/>
          <p:nvPr/>
        </p:nvSpPr>
        <p:spPr>
          <a:xfrm>
            <a:off x="7223760" y="3108960"/>
            <a:ext cx="4389120" cy="1737360"/>
          </a:xfrm>
          <a:prstGeom prst="roundRect">
            <a:avLst>
              <a:gd name="adj" fmla="val 6316"/>
            </a:avLst>
          </a:prstGeom>
          <a:solidFill>
            <a:srgbClr val="F7F5F1"/>
          </a:solidFill>
          <a:ln w="9525">
            <a:solidFill>
              <a:srgbClr val="DDD8CF"/>
            </a:solidFill>
            <a:prstDash val="solid"/>
          </a:ln>
        </p:spPr>
      </p:sp>
      <p:sp>
        <p:nvSpPr>
          <p:cNvPr id="11" name="card head SiC converters: a 27 % smaller junction swing"/>
          <p:cNvSpPr txBox="1"/>
          <p:nvPr/>
        </p:nvSpPr>
        <p:spPr>
          <a:xfrm>
            <a:off x="7406640" y="3218688"/>
            <a:ext cx="4023360" cy="347472"/>
          </a:xfrm>
          <a:prstGeom prst="rect">
            <a:avLst/>
          </a:prstGeom>
          <a:noFill/>
          <a:ln/>
        </p:spPr>
        <p:txBody>
          <a:bodyPr wrap="square" lIns="0" tIns="0" rIns="0" bIns="0" rtlCol="0" anchor="t"/>
          <a:lstStyle/>
          <a:p>
            <a:pPr indent="0" marL="0">
              <a:buNone/>
            </a:pPr>
            <a:r>
              <a:rPr lang="en-US" sz="1400" b="1" dirty="0">
                <a:solidFill>
                  <a:srgbClr val="15191C"/>
                </a:solidFill>
              </a:rPr>
              <a:t>SiC converters: a 27 % smaller junction swing</a:t>
            </a:r>
            <a:endParaRPr lang="en-US" sz="1400" dirty="0"/>
          </a:p>
        </p:txBody>
      </p:sp>
      <p:sp>
        <p:nvSpPr>
          <p:cNvPr id="12" name="card body SiC converters: a 27 % smaller junction swing"/>
          <p:cNvSpPr txBox="1"/>
          <p:nvPr/>
        </p:nvSpPr>
        <p:spPr>
          <a:xfrm>
            <a:off x="7406640" y="3584448"/>
            <a:ext cx="4023360" cy="1170432"/>
          </a:xfrm>
          <a:prstGeom prst="rect">
            <a:avLst/>
          </a:prstGeom>
          <a:noFill/>
          <a:ln/>
        </p:spPr>
        <p:txBody>
          <a:bodyPr wrap="square" lIns="0" tIns="0" rIns="0" bIns="0" rtlCol="0" anchor="t"/>
          <a:lstStyle/>
          <a:p>
            <a:pPr indent="0" marL="0">
              <a:buNone/>
            </a:pPr>
            <a:r>
              <a:rPr lang="en-US" sz="1050" dirty="0">
                <a:solidFill>
                  <a:srgbClr val="4A5058"/>
                </a:solidFill>
              </a:rPr>
              <a:t>On a 1200 V SiC half-bridge with a sintered substrate the PRISM-DC core cuts the junction-to-coolant rise from 31.4 to 22.8 K per 400 W switch: 1.38× the loss per cm² of SiC, or four to five times the power-cycling life. Under a gap pad the advantage vanishes.</a:t>
            </a:r>
            <a:endParaRPr lang="en-US" sz="1050" dirty="0"/>
          </a:p>
        </p:txBody>
      </p:sp>
      <p:sp>
        <p:nvSpPr>
          <p:cNvPr id="13" name="card “SSD converters”"/>
          <p:cNvSpPr/>
          <p:nvPr/>
        </p:nvSpPr>
        <p:spPr>
          <a:xfrm>
            <a:off x="7223760" y="4983480"/>
            <a:ext cx="4389120" cy="1143000"/>
          </a:xfrm>
          <a:prstGeom prst="roundRect">
            <a:avLst>
              <a:gd name="adj" fmla="val 9600"/>
            </a:avLst>
          </a:prstGeom>
          <a:solidFill>
            <a:srgbClr val="F7F5F1"/>
          </a:solidFill>
          <a:ln w="9525">
            <a:solidFill>
              <a:srgbClr val="DDD8CF"/>
            </a:solidFill>
            <a:prstDash val="solid"/>
          </a:ln>
        </p:spPr>
      </p:sp>
      <p:sp>
        <p:nvSpPr>
          <p:cNvPr id="14" name="card head “SSD converters”"/>
          <p:cNvSpPr txBox="1"/>
          <p:nvPr/>
        </p:nvSpPr>
        <p:spPr>
          <a:xfrm>
            <a:off x="7406640" y="5093208"/>
            <a:ext cx="4023360" cy="347472"/>
          </a:xfrm>
          <a:prstGeom prst="rect">
            <a:avLst/>
          </a:prstGeom>
          <a:noFill/>
          <a:ln/>
        </p:spPr>
        <p:txBody>
          <a:bodyPr wrap="square" lIns="0" tIns="0" rIns="0" bIns="0" rtlCol="0" anchor="t"/>
          <a:lstStyle/>
          <a:p>
            <a:pPr indent="0" marL="0">
              <a:buNone/>
            </a:pPr>
            <a:r>
              <a:rPr lang="en-US" sz="1400" b="1" dirty="0">
                <a:solidFill>
                  <a:srgbClr val="15191C"/>
                </a:solidFill>
              </a:rPr>
              <a:t>“SSD converters”</a:t>
            </a:r>
            <a:endParaRPr lang="en-US" sz="1400" dirty="0"/>
          </a:p>
        </p:txBody>
      </p:sp>
      <p:sp>
        <p:nvSpPr>
          <p:cNvPr id="15" name="card body “SSD converters”"/>
          <p:cNvSpPr txBox="1"/>
          <p:nvPr/>
        </p:nvSpPr>
        <p:spPr>
          <a:xfrm>
            <a:off x="7406640" y="5458968"/>
            <a:ext cx="4023360" cy="576072"/>
          </a:xfrm>
          <a:prstGeom prst="rect">
            <a:avLst/>
          </a:prstGeom>
          <a:noFill/>
          <a:ln/>
        </p:spPr>
        <p:txBody>
          <a:bodyPr wrap="square" lIns="0" tIns="0" rIns="0" bIns="0" rtlCol="0" anchor="t"/>
          <a:lstStyle/>
          <a:p>
            <a:pPr indent="0" marL="0">
              <a:buNone/>
            </a:pPr>
            <a:r>
              <a:rPr lang="en-US" sz="1050" dirty="0">
                <a:solidFill>
                  <a:srgbClr val="4A5058"/>
                </a:solidFill>
              </a:rPr>
              <a:t>Read as SiC converters. Solid-state transformers and DC breakers fit; storage drives at 1 to 2 W/cm² gain nothing from this core.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PROGRAMME</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Twelve months to a public OCP-format result, gated five times</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21</a:t>
            </a:r>
            <a:endParaRPr lang="en-US" sz="90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914400"/>
                <a:gridCol w="5486400"/>
                <a:gridCol w="4663440"/>
              </a:tblGrid>
              <a:tr h="0">
                <a:tc>
                  <a:txBody>
                    <a:bodyPr/>
                    <a:lstStyle/>
                    <a:p>
                      <a:pPr indent="0" marL="0">
                        <a:buNone/>
                      </a:pPr>
                      <a:r>
                        <a:rPr lang="en-US" sz="1000" b="1" dirty="0">
                          <a:solidFill>
                            <a:srgbClr val="15191C"/>
                          </a:solidFill>
                          <a:latin typeface="+mn-lt" pitchFamily="34" charset="0"/>
                          <a:ea typeface="+mn-lt" pitchFamily="34" charset="-122"/>
                          <a:cs typeface="+mn-lt" pitchFamily="34" charset="-120"/>
                        </a:rPr>
                        <a:t>Months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Work</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c>
                  <a:txBody>
                    <a:bodyPr/>
                    <a:lstStyle/>
                    <a:p>
                      <a:pPr indent="0" marL="0">
                        <a:buNone/>
                      </a:pPr>
                      <a:r>
                        <a:rPr lang="en-US" sz="1000" b="1" dirty="0">
                          <a:solidFill>
                            <a:srgbClr val="15191C"/>
                          </a:solidFill>
                          <a:latin typeface="+mn-lt" pitchFamily="34" charset="0"/>
                          <a:ea typeface="+mn-lt" pitchFamily="34" charset="-122"/>
                          <a:cs typeface="+mn-lt" pitchFamily="34" charset="-120"/>
                        </a:rPr>
                        <a:t>Gate and kill criterion</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E9E4DA"/>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0–1</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RFQs, long-lead furnace and skiver orders, OCP §5.2 and PG25 guidelines read, FTO claim pulls, CBP ruling request</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1–3</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E0 purchased plates; E1 braze coupon matrix; E2 water table and single-cell CFD; design freeze preparation</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G1, month 3: Rev A freeze. Join route, base 0.8 vs 1.0, C2 go/no-go. Kill if no route passes E1 by month 5</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3–6</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Build A, 12 plates; test-vehicle commissioning; fouling test starts; FTO opinion at month 4; 5 plates × 3 re-mounts, paste and pad</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G2, month 6: pad ≤ 31 / ≤ 36 K and paste ≤ 33 K, else re-scope the claim or pivot; one letter of intent</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6–9</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Build B, 20 plates on production-intent dies; endurance on 22 plates; independent laboratory</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G3, month 9: independent repeat within ±1.5 K</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9–12</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OCP-format report; R+ and liquid-metal stretch data</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G4, month 11–12: public at OCP Global Summit 2027</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5191C"/>
                          </a:solidFill>
                          <a:latin typeface="+mn-lt" pitchFamily="34" charset="0"/>
                          <a:ea typeface="+mn-lt" pitchFamily="34" charset="-122"/>
                          <a:cs typeface="+mn-lt" pitchFamily="34" charset="-120"/>
                        </a:rPr>
                        <a:t>12–18</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300–500-plate pilot at the contract manufacturer; PPAP; samples to two hyperscaler programmes</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c>
                  <a:txBody>
                    <a:bodyPr/>
                    <a:lstStyle/>
                    <a:p>
                      <a:pPr indent="0" marL="0">
                        <a:buNone/>
                      </a:pPr>
                      <a:r>
                        <a:rPr lang="en-US" sz="1000" dirty="0">
                          <a:solidFill>
                            <a:srgbClr val="15191C"/>
                          </a:solidFill>
                          <a:latin typeface="+mn-lt" pitchFamily="34" charset="0"/>
                          <a:ea typeface="+mn-lt" pitchFamily="34" charset="-122"/>
                          <a:cs typeface="+mn-lt" pitchFamily="34" charset="-120"/>
                        </a:rPr>
                        <a:t>G5, month 18: qualified product; volume 2029</a:t>
                      </a:r>
                      <a:endParaRPr lang="en-US" sz="1000" dirty="0">
                        <a:latin typeface="+mn-lt" charset="0"/>
                        <a:ea typeface="+mn-lt" charset="0"/>
                        <a:cs typeface="+mn-lt" charset="0"/>
                      </a:endParaRPr>
                    </a:p>
                  </a:txBody>
                  <a:tcPr marL="45720" marR="45720" marT="45720" marB="45720" anchor="ctr">
                    <a:lnL w="6350" cap="flat" cmpd="sng" algn="ctr">
                      <a:solidFill>
                        <a:srgbClr val="DDD8CF"/>
                      </a:solidFill>
                      <a:prstDash val="solid"/>
                      <a:round/>
                      <a:headEnd type="none" w="med" len="med"/>
                      <a:tailEnd type="none" w="med" len="med"/>
                    </a:lnL>
                    <a:lnR w="6350" cap="flat" cmpd="sng" algn="ctr">
                      <a:solidFill>
                        <a:srgbClr val="DDD8CF"/>
                      </a:solidFill>
                      <a:prstDash val="solid"/>
                      <a:round/>
                      <a:headEnd type="none" w="med" len="med"/>
                      <a:tailEnd type="none" w="med" len="med"/>
                    </a:lnR>
                    <a:lnT w="6350" cap="flat" cmpd="sng" algn="ctr">
                      <a:solidFill>
                        <a:srgbClr val="DDD8CF"/>
                      </a:solidFill>
                      <a:prstDash val="solid"/>
                      <a:round/>
                      <a:headEnd type="none" w="med" len="med"/>
                      <a:tailEnd type="none" w="med" len="med"/>
                    </a:lnT>
                    <a:lnB w="6350" cap="flat" cmpd="sng" algn="ctr">
                      <a:solidFill>
                        <a:srgbClr val="DDD8CF"/>
                      </a:solidFill>
                      <a:prstDash val="solid"/>
                      <a:round/>
                      <a:headEnd type="none" w="med" len="med"/>
                      <a:tailEnd type="none" w="med" len="med"/>
                    </a:lnB>
                    <a:solidFill>
                      <a:srgbClr val="FBFAF8"/>
                    </a:solidFill>
                  </a:tcPr>
                </a:tc>
              </a:tr>
            </a:tbl>
          </a:graphicData>
        </a:graphic>
      </p:graphicFrame>
      <p:sp>
        <p:nvSpPr>
          <p:cNvPr id="7" name="tile 12 months with 15–20 % contingency; 18 FTE"/>
          <p:cNvSpPr/>
          <p:nvPr/>
        </p:nvSpPr>
        <p:spPr>
          <a:xfrm>
            <a:off x="548640" y="5074920"/>
            <a:ext cx="2651760" cy="1097280"/>
          </a:xfrm>
          <a:prstGeom prst="roundRect">
            <a:avLst>
              <a:gd name="adj" fmla="val 10000"/>
            </a:avLst>
          </a:prstGeom>
          <a:solidFill>
            <a:srgbClr val="15191C"/>
          </a:solidFill>
          <a:ln w="9525">
            <a:solidFill>
              <a:srgbClr val="15191C"/>
            </a:solidFill>
            <a:prstDash val="solid"/>
          </a:ln>
        </p:spPr>
      </p:sp>
      <p:sp>
        <p:nvSpPr>
          <p:cNvPr id="8" name="tile value 12 months with 15–20 % contingency; 18 FTE"/>
          <p:cNvSpPr txBox="1"/>
          <p:nvPr/>
        </p:nvSpPr>
        <p:spPr>
          <a:xfrm>
            <a:off x="731520" y="5184648"/>
            <a:ext cx="2286000" cy="603504"/>
          </a:xfrm>
          <a:prstGeom prst="rect">
            <a:avLst/>
          </a:prstGeom>
          <a:noFill/>
          <a:ln/>
        </p:spPr>
        <p:txBody>
          <a:bodyPr wrap="square" lIns="0" tIns="0" rIns="0" bIns="0" rtlCol="0" anchor="ctr"/>
          <a:lstStyle/>
          <a:p>
            <a:pPr indent="0" marL="0">
              <a:buNone/>
            </a:pPr>
            <a:r>
              <a:rPr lang="en-US" sz="2400" b="1" dirty="0">
                <a:solidFill>
                  <a:srgbClr val="F4F1EC"/>
                </a:solidFill>
              </a:rPr>
              <a:t>US$8.4–10.7 M</a:t>
            </a:r>
            <a:endParaRPr lang="en-US" sz="2400" dirty="0"/>
          </a:p>
        </p:txBody>
      </p:sp>
      <p:sp>
        <p:nvSpPr>
          <p:cNvPr id="9" name="tile label 12 months with 15–20 % contingency; 18 FTE"/>
          <p:cNvSpPr txBox="1"/>
          <p:nvPr/>
        </p:nvSpPr>
        <p:spPr>
          <a:xfrm>
            <a:off x="731520" y="5733288"/>
            <a:ext cx="2286000" cy="416966"/>
          </a:xfrm>
          <a:prstGeom prst="rect">
            <a:avLst/>
          </a:prstGeom>
          <a:noFill/>
          <a:ln/>
        </p:spPr>
        <p:txBody>
          <a:bodyPr wrap="square" lIns="0" tIns="0" rIns="0" bIns="0" rtlCol="0" anchor="t"/>
          <a:lstStyle/>
          <a:p>
            <a:pPr indent="0" marL="0">
              <a:buNone/>
            </a:pPr>
            <a:r>
              <a:rPr lang="en-US" sz="1100" dirty="0">
                <a:solidFill>
                  <a:srgbClr val="C9C4BB"/>
                </a:solidFill>
              </a:rPr>
              <a:t>12 months with 15–20 % contingency; 18 FTE</a:t>
            </a:r>
            <a:endParaRPr lang="en-US" sz="1100" dirty="0"/>
          </a:p>
        </p:txBody>
      </p:sp>
      <p:sp>
        <p:nvSpPr>
          <p:cNvPr id="10" name="tile first tranche, to gate G1 at month 3"/>
          <p:cNvSpPr/>
          <p:nvPr/>
        </p:nvSpPr>
        <p:spPr>
          <a:xfrm>
            <a:off x="3383280" y="5074920"/>
            <a:ext cx="2651760" cy="1097280"/>
          </a:xfrm>
          <a:prstGeom prst="roundRect">
            <a:avLst>
              <a:gd name="adj" fmla="val 10000"/>
            </a:avLst>
          </a:prstGeom>
          <a:solidFill>
            <a:srgbClr val="15191C"/>
          </a:solidFill>
          <a:ln w="9525">
            <a:solidFill>
              <a:srgbClr val="15191C"/>
            </a:solidFill>
            <a:prstDash val="solid"/>
          </a:ln>
        </p:spPr>
      </p:sp>
      <p:sp>
        <p:nvSpPr>
          <p:cNvPr id="11" name="tile value first tranche, to gate G1 at month 3"/>
          <p:cNvSpPr txBox="1"/>
          <p:nvPr/>
        </p:nvSpPr>
        <p:spPr>
          <a:xfrm>
            <a:off x="3566160" y="5184648"/>
            <a:ext cx="2286000" cy="603504"/>
          </a:xfrm>
          <a:prstGeom prst="rect">
            <a:avLst/>
          </a:prstGeom>
          <a:noFill/>
          <a:ln/>
        </p:spPr>
        <p:txBody>
          <a:bodyPr wrap="square" lIns="0" tIns="0" rIns="0" bIns="0" rtlCol="0" anchor="ctr"/>
          <a:lstStyle/>
          <a:p>
            <a:pPr indent="0" marL="0">
              <a:buNone/>
            </a:pPr>
            <a:r>
              <a:rPr lang="en-US" sz="2400" b="1" dirty="0">
                <a:solidFill>
                  <a:srgbClr val="F4F1EC"/>
                </a:solidFill>
              </a:rPr>
              <a:t>US$2.3 M</a:t>
            </a:r>
            <a:endParaRPr lang="en-US" sz="2400" dirty="0"/>
          </a:p>
        </p:txBody>
      </p:sp>
      <p:sp>
        <p:nvSpPr>
          <p:cNvPr id="12" name="tile label first tranche, to gate G1 at month 3"/>
          <p:cNvSpPr txBox="1"/>
          <p:nvPr/>
        </p:nvSpPr>
        <p:spPr>
          <a:xfrm>
            <a:off x="3566160" y="5733288"/>
            <a:ext cx="2286000" cy="416966"/>
          </a:xfrm>
          <a:prstGeom prst="rect">
            <a:avLst/>
          </a:prstGeom>
          <a:noFill/>
          <a:ln/>
        </p:spPr>
        <p:txBody>
          <a:bodyPr wrap="square" lIns="0" tIns="0" rIns="0" bIns="0" rtlCol="0" anchor="t"/>
          <a:lstStyle/>
          <a:p>
            <a:pPr indent="0" marL="0">
              <a:buNone/>
            </a:pPr>
            <a:r>
              <a:rPr lang="en-US" sz="1100" dirty="0">
                <a:solidFill>
                  <a:srgbClr val="C9C4BB"/>
                </a:solidFill>
              </a:rPr>
              <a:t>first tranche, to gate G1 at month 3</a:t>
            </a:r>
            <a:endParaRPr lang="en-US" sz="1100" dirty="0"/>
          </a:p>
        </p:txBody>
      </p:sp>
      <p:sp>
        <p:nvSpPr>
          <p:cNvPr id="13" name="tile probability of a decisive pad result at month 12"/>
          <p:cNvSpPr/>
          <p:nvPr/>
        </p:nvSpPr>
        <p:spPr>
          <a:xfrm>
            <a:off x="6217920" y="5074920"/>
            <a:ext cx="2651760" cy="1097280"/>
          </a:xfrm>
          <a:prstGeom prst="roundRect">
            <a:avLst>
              <a:gd name="adj" fmla="val 10000"/>
            </a:avLst>
          </a:prstGeom>
          <a:solidFill>
            <a:srgbClr val="15191C"/>
          </a:solidFill>
          <a:ln w="9525">
            <a:solidFill>
              <a:srgbClr val="15191C"/>
            </a:solidFill>
            <a:prstDash val="solid"/>
          </a:ln>
        </p:spPr>
      </p:sp>
      <p:sp>
        <p:nvSpPr>
          <p:cNvPr id="14" name="tile value probability of a decisive pad result at month 12"/>
          <p:cNvSpPr txBox="1"/>
          <p:nvPr/>
        </p:nvSpPr>
        <p:spPr>
          <a:xfrm>
            <a:off x="6400800" y="5184648"/>
            <a:ext cx="2286000" cy="603504"/>
          </a:xfrm>
          <a:prstGeom prst="rect">
            <a:avLst/>
          </a:prstGeom>
          <a:noFill/>
          <a:ln/>
        </p:spPr>
        <p:txBody>
          <a:bodyPr wrap="square" lIns="0" tIns="0" rIns="0" bIns="0" rtlCol="0" anchor="ctr"/>
          <a:lstStyle/>
          <a:p>
            <a:pPr indent="0" marL="0">
              <a:buNone/>
            </a:pPr>
            <a:r>
              <a:rPr lang="en-US" sz="2400" b="1" dirty="0">
                <a:solidFill>
                  <a:srgbClr val="F4F1EC"/>
                </a:solidFill>
              </a:rPr>
              <a:t>0.43</a:t>
            </a:r>
            <a:endParaRPr lang="en-US" sz="2400" dirty="0"/>
          </a:p>
        </p:txBody>
      </p:sp>
      <p:sp>
        <p:nvSpPr>
          <p:cNvPr id="15" name="tile label probability of a decisive pad result at month 12"/>
          <p:cNvSpPr txBox="1"/>
          <p:nvPr/>
        </p:nvSpPr>
        <p:spPr>
          <a:xfrm>
            <a:off x="6400800" y="5733288"/>
            <a:ext cx="2286000" cy="416966"/>
          </a:xfrm>
          <a:prstGeom prst="rect">
            <a:avLst/>
          </a:prstGeom>
          <a:noFill/>
          <a:ln/>
        </p:spPr>
        <p:txBody>
          <a:bodyPr wrap="square" lIns="0" tIns="0" rIns="0" bIns="0" rtlCol="0" anchor="t"/>
          <a:lstStyle/>
          <a:p>
            <a:pPr indent="0" marL="0">
              <a:buNone/>
            </a:pPr>
            <a:r>
              <a:rPr lang="en-US" sz="1100" dirty="0">
                <a:solidFill>
                  <a:srgbClr val="C9C4BB"/>
                </a:solidFill>
              </a:rPr>
              <a:t>probability of a decisive pad result at month 12</a:t>
            </a:r>
            <a:endParaRPr lang="en-US" sz="1100" dirty="0"/>
          </a:p>
        </p:txBody>
      </p:sp>
      <p:sp>
        <p:nvSpPr>
          <p:cNvPr id="16" name="tile pad average, maximum and dP all winning"/>
          <p:cNvSpPr/>
          <p:nvPr/>
        </p:nvSpPr>
        <p:spPr>
          <a:xfrm>
            <a:off x="9052560" y="5074920"/>
            <a:ext cx="2651760" cy="1097280"/>
          </a:xfrm>
          <a:prstGeom prst="roundRect">
            <a:avLst>
              <a:gd name="adj" fmla="val 10000"/>
            </a:avLst>
          </a:prstGeom>
          <a:solidFill>
            <a:srgbClr val="15191C"/>
          </a:solidFill>
          <a:ln w="9525">
            <a:solidFill>
              <a:srgbClr val="15191C"/>
            </a:solidFill>
            <a:prstDash val="solid"/>
          </a:ln>
        </p:spPr>
      </p:sp>
      <p:sp>
        <p:nvSpPr>
          <p:cNvPr id="17" name="tile value pad average, maximum and dP all winning"/>
          <p:cNvSpPr txBox="1"/>
          <p:nvPr/>
        </p:nvSpPr>
        <p:spPr>
          <a:xfrm>
            <a:off x="9235440" y="5184648"/>
            <a:ext cx="2286000" cy="603504"/>
          </a:xfrm>
          <a:prstGeom prst="rect">
            <a:avLst/>
          </a:prstGeom>
          <a:noFill/>
          <a:ln/>
        </p:spPr>
        <p:txBody>
          <a:bodyPr wrap="square" lIns="0" tIns="0" rIns="0" bIns="0" rtlCol="0" anchor="ctr"/>
          <a:lstStyle/>
          <a:p>
            <a:pPr indent="0" marL="0">
              <a:buNone/>
            </a:pPr>
            <a:r>
              <a:rPr lang="en-US" sz="2400" b="1" dirty="0">
                <a:solidFill>
                  <a:srgbClr val="F4F1EC"/>
                </a:solidFill>
              </a:rPr>
              <a:t>0.68</a:t>
            </a:r>
            <a:endParaRPr lang="en-US" sz="2400" dirty="0"/>
          </a:p>
        </p:txBody>
      </p:sp>
      <p:sp>
        <p:nvSpPr>
          <p:cNvPr id="18" name="tile label pad average, maximum and dP all winning"/>
          <p:cNvSpPr txBox="1"/>
          <p:nvPr/>
        </p:nvSpPr>
        <p:spPr>
          <a:xfrm>
            <a:off x="9235440" y="5733288"/>
            <a:ext cx="2286000" cy="416966"/>
          </a:xfrm>
          <a:prstGeom prst="rect">
            <a:avLst/>
          </a:prstGeom>
          <a:noFill/>
          <a:ln/>
        </p:spPr>
        <p:txBody>
          <a:bodyPr wrap="square" lIns="0" tIns="0" rIns="0" bIns="0" rtlCol="0" anchor="t"/>
          <a:lstStyle/>
          <a:p>
            <a:pPr indent="0" marL="0">
              <a:buNone/>
            </a:pPr>
            <a:r>
              <a:rPr lang="en-US" sz="1100" dirty="0">
                <a:solidFill>
                  <a:srgbClr val="C9C4BB"/>
                </a:solidFill>
              </a:rPr>
              <a:t>pad average, maximum and dP all winning</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3"/>
                </a:solidFill>
              </a:rPr>
              <a:t>DECISIONS REQUESTED</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bg2"/>
                </a:solidFill>
              </a:rPr>
              <a:t>Seven decisions for the line manager</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22</a:t>
            </a:r>
            <a:endParaRPr lang="en-US" sz="9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548640"/>
                <a:gridCol w="1828800"/>
                <a:gridCol w="8686800"/>
              </a:tblGrid>
              <a:tr h="0">
                <a:tc>
                  <a:txBody>
                    <a:bodyPr/>
                    <a:lstStyle/>
                    <a:p>
                      <a:pPr indent="0" marL="0">
                        <a:buNone/>
                      </a:pPr>
                      <a:r>
                        <a:rPr lang="en-US" sz="1000" b="1" dirty="0">
                          <a:solidFill>
                            <a:srgbClr val="D08A5E"/>
                          </a:solidFill>
                          <a:latin typeface="+mn-lt" pitchFamily="34" charset="0"/>
                          <a:ea typeface="+mn-lt" pitchFamily="34" charset="-122"/>
                          <a:cs typeface="+mn-lt" pitchFamily="34" charset="-120"/>
                        </a:rPr>
                        <a:t>#</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242A2F"/>
                    </a:solidFill>
                  </a:tcPr>
                </a:tc>
                <a:tc>
                  <a:txBody>
                    <a:bodyPr/>
                    <a:lstStyle/>
                    <a:p>
                      <a:pPr indent="0" marL="0">
                        <a:buNone/>
                      </a:pPr>
                      <a:r>
                        <a:rPr lang="en-US" sz="1000" b="1" dirty="0">
                          <a:solidFill>
                            <a:srgbClr val="D08A5E"/>
                          </a:solidFill>
                          <a:latin typeface="+mn-lt" pitchFamily="34" charset="0"/>
                          <a:ea typeface="+mn-lt" pitchFamily="34" charset="-122"/>
                          <a:cs typeface="+mn-lt" pitchFamily="34" charset="-120"/>
                        </a:rPr>
                        <a:t>Decision</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242A2F"/>
                    </a:solidFill>
                  </a:tcPr>
                </a:tc>
                <a:tc>
                  <a:txBody>
                    <a:bodyPr/>
                    <a:lstStyle/>
                    <a:p>
                      <a:pPr indent="0" marL="0">
                        <a:buNone/>
                      </a:pPr>
                      <a:r>
                        <a:rPr lang="en-US" sz="1000" b="1" dirty="0">
                          <a:solidFill>
                            <a:srgbClr val="D08A5E"/>
                          </a:solidFill>
                          <a:latin typeface="+mn-lt" pitchFamily="34" charset="0"/>
                          <a:ea typeface="+mn-lt" pitchFamily="34" charset="-122"/>
                          <a:cs typeface="+mn-lt" pitchFamily="34" charset="-120"/>
                        </a:rPr>
                        <a:t>Recommendation</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242A2F"/>
                    </a:solidFill>
                  </a:tcPr>
                </a:tc>
              </a:tr>
              <a:tr h="0">
                <a:tc>
                  <a:txBody>
                    <a:bodyPr/>
                    <a:lstStyle/>
                    <a:p>
                      <a:pPr indent="0" marL="0">
                        <a:buNone/>
                      </a:pPr>
                      <a:r>
                        <a:rPr lang="en-US" sz="1000" dirty="0">
                          <a:solidFill>
                            <a:srgbClr val="F4F1EC"/>
                          </a:solidFill>
                          <a:latin typeface="+mn-lt" pitchFamily="34" charset="0"/>
                          <a:ea typeface="+mn-lt" pitchFamily="34" charset="-122"/>
                          <a:cs typeface="+mn-lt" pitchFamily="34" charset="-120"/>
                        </a:rPr>
                        <a:t>D1</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Public claim</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Scoped claim, after G2: beats CoolIT like-for-like on average and maximum case temperature, uniformity, capacity and inlet headroom; maximum lower at every flow; dP below any credible reconstruction; costs more, ships with a filter, no field record. No claim on the 4 kW point or the low-flow and 100 cm² averages</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r>
              <a:tr h="0">
                <a:tc>
                  <a:txBody>
                    <a:bodyPr/>
                    <a:lstStyle/>
                    <a:p>
                      <a:pPr indent="0" marL="0">
                        <a:buNone/>
                      </a:pPr>
                      <a:r>
                        <a:rPr lang="en-US" sz="1000" dirty="0">
                          <a:solidFill>
                            <a:srgbClr val="F4F1EC"/>
                          </a:solidFill>
                          <a:latin typeface="+mn-lt" pitchFamily="34" charset="0"/>
                          <a:ea typeface="+mn-lt" pitchFamily="34" charset="-122"/>
                          <a:cs typeface="+mn-lt" pitchFamily="34" charset="-120"/>
                        </a:rPr>
                        <a:t>D2</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Channel and moat</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Build and supply through a non-Group-A contract manufacturer to hyperscalers and to NVIDIA via its thermal engineering team; no licence to Group-A houses</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r>
              <a:tr h="0">
                <a:tc>
                  <a:txBody>
                    <a:bodyPr/>
                    <a:lstStyle/>
                    <a:p>
                      <a:pPr indent="0" marL="0">
                        <a:buNone/>
                      </a:pPr>
                      <a:r>
                        <a:rPr lang="en-US" sz="1000" dirty="0">
                          <a:solidFill>
                            <a:srgbClr val="F4F1EC"/>
                          </a:solidFill>
                          <a:latin typeface="+mn-lt" pitchFamily="34" charset="0"/>
                          <a:ea typeface="+mn-lt" pitchFamily="34" charset="-122"/>
                          <a:cs typeface="+mn-lt" pitchFamily="34" charset="-120"/>
                        </a:rPr>
                        <a:t>D3</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Budget and gating</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Tranches: US$2.3 M to G1 at month 3, the rest on a G1 pass; full scope US$8.4–10.7 M</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r>
              <a:tr h="0">
                <a:tc>
                  <a:txBody>
                    <a:bodyPr/>
                    <a:lstStyle/>
                    <a:p>
                      <a:pPr indent="0" marL="0">
                        <a:buNone/>
                      </a:pPr>
                      <a:r>
                        <a:rPr lang="en-US" sz="1000" dirty="0">
                          <a:solidFill>
                            <a:srgbClr val="F4F1EC"/>
                          </a:solidFill>
                          <a:latin typeface="+mn-lt" pitchFamily="34" charset="0"/>
                          <a:ea typeface="+mn-lt" pitchFamily="34" charset="-122"/>
                          <a:cs typeface="+mn-lt" pitchFamily="34" charset="-120"/>
                        </a:rPr>
                        <a:t>D4</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Rev A stack</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Vacuum BAg braze as baseline (US$165); silver-free Cu-Sn belt route (US$142) decided at G1 on E1 coupons</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r>
              <a:tr h="0">
                <a:tc>
                  <a:txBody>
                    <a:bodyPr/>
                    <a:lstStyle/>
                    <a:p>
                      <a:pPr indent="0" marL="0">
                        <a:buNone/>
                      </a:pPr>
                      <a:r>
                        <a:rPr lang="en-US" sz="1000" dirty="0">
                          <a:solidFill>
                            <a:srgbClr val="F4F1EC"/>
                          </a:solidFill>
                          <a:latin typeface="+mn-lt" pitchFamily="34" charset="0"/>
                          <a:ea typeface="+mn-lt" pitchFamily="34" charset="-122"/>
                          <a:cs typeface="+mn-lt" pitchFamily="34" charset="-120"/>
                        </a:rPr>
                        <a:t>D5</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US launch and site</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No US offers, sales or evaluation units before the FTO opinion; no US sale before 10 September 2028 unless it clears; Vietnam or Mexico build first; Taiwan only after TW I606224 is charted</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r>
              <a:tr h="0">
                <a:tc>
                  <a:txBody>
                    <a:bodyPr/>
                    <a:lstStyle/>
                    <a:p>
                      <a:pPr indent="0" marL="0">
                        <a:buNone/>
                      </a:pPr>
                      <a:r>
                        <a:rPr lang="en-US" sz="1000" dirty="0">
                          <a:solidFill>
                            <a:srgbClr val="F4F1EC"/>
                          </a:solidFill>
                          <a:latin typeface="+mn-lt" pitchFamily="34" charset="0"/>
                          <a:ea typeface="+mn-lt" pitchFamily="34" charset="-122"/>
                          <a:cs typeface="+mn-lt" pitchFamily="34" charset="-120"/>
                        </a:rPr>
                        <a:t>D6</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Filtration</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Tray cartridge mandatory and supplied, 150 cm² and 33 µm absolute; the product is “mechanically drop-in, ships with a tray filter kit”</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C2126"/>
                    </a:solidFill>
                  </a:tcPr>
                </a:tc>
              </a:tr>
              <a:tr h="0">
                <a:tc>
                  <a:txBody>
                    <a:bodyPr/>
                    <a:lstStyle/>
                    <a:p>
                      <a:pPr indent="0" marL="0">
                        <a:buNone/>
                      </a:pPr>
                      <a:r>
                        <a:rPr lang="en-US" sz="1000" dirty="0">
                          <a:solidFill>
                            <a:srgbClr val="F4F1EC"/>
                          </a:solidFill>
                          <a:latin typeface="+mn-lt" pitchFamily="34" charset="0"/>
                          <a:ea typeface="+mn-lt" pitchFamily="34" charset="-122"/>
                          <a:cs typeface="+mn-lt" pitchFamily="34" charset="-120"/>
                        </a:rPr>
                        <a:t>D7</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Hedges</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c>
                  <a:txBody>
                    <a:bodyPr/>
                    <a:lstStyle/>
                    <a:p>
                      <a:pPr indent="0" marL="0">
                        <a:buNone/>
                      </a:pPr>
                      <a:r>
                        <a:rPr lang="en-US" sz="1000" dirty="0">
                          <a:solidFill>
                            <a:srgbClr val="F4F1EC"/>
                          </a:solidFill>
                          <a:latin typeface="+mn-lt" pitchFamily="34" charset="0"/>
                          <a:ea typeface="+mn-lt" pitchFamily="34" charset="-122"/>
                          <a:cs typeface="+mn-lt" pitchFamily="34" charset="-120"/>
                        </a:rPr>
                        <a:t>US$0.4–0.6 M micro-channel-lid insert design study plus a two-phase watching brief</a:t>
                      </a:r>
                      <a:endParaRPr lang="en-US" sz="1000" dirty="0">
                        <a:latin typeface="+mn-lt" charset="0"/>
                        <a:ea typeface="+mn-lt" charset="0"/>
                        <a:cs typeface="+mn-lt" charset="0"/>
                      </a:endParaRPr>
                    </a:p>
                  </a:txBody>
                  <a:tcPr marL="45720" marR="45720" marT="45720" marB="45720" anchor="ctr">
                    <a:lnL w="6350" cap="flat" cmpd="sng" algn="ctr">
                      <a:solidFill>
                        <a:srgbClr val="3A4046"/>
                      </a:solidFill>
                      <a:prstDash val="solid"/>
                      <a:round/>
                      <a:headEnd type="none" w="med" len="med"/>
                      <a:tailEnd type="none" w="med" len="med"/>
                    </a:lnL>
                    <a:lnR w="6350" cap="flat" cmpd="sng" algn="ctr">
                      <a:solidFill>
                        <a:srgbClr val="3A4046"/>
                      </a:solidFill>
                      <a:prstDash val="solid"/>
                      <a:round/>
                      <a:headEnd type="none" w="med" len="med"/>
                      <a:tailEnd type="none" w="med" len="med"/>
                    </a:lnR>
                    <a:lnT w="6350" cap="flat" cmpd="sng" algn="ctr">
                      <a:solidFill>
                        <a:srgbClr val="3A4046"/>
                      </a:solidFill>
                      <a:prstDash val="solid"/>
                      <a:round/>
                      <a:headEnd type="none" w="med" len="med"/>
                      <a:tailEnd type="none" w="med" len="med"/>
                    </a:lnT>
                    <a:lnB w="6350" cap="flat" cmpd="sng" algn="ctr">
                      <a:solidFill>
                        <a:srgbClr val="3A4046"/>
                      </a:solidFill>
                      <a:prstDash val="solid"/>
                      <a:round/>
                      <a:headEnd type="none" w="med" len="med"/>
                      <a:tailEnd type="none" w="med" len="med"/>
                    </a:lnB>
                    <a:solidFill>
                      <a:srgbClr val="15191C"/>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lIns="0" tIns="0" rIns="0" bIns="0" rtlCol="0"/>
          <a:lstStyle/>
          <a:p>
            <a:pPr indent="0" marL="0">
              <a:buNone/>
            </a:pPr>
            <a:r>
              <a:rPr lang="en-US" sz="1100" b="1" spc="300" kern="0" dirty="0">
                <a:solidFill>
                  <a:schemeClr val="accent1"/>
                </a:solidFill>
              </a:rPr>
              <a:t>THE NEXT NINETY DAYS</a:t>
            </a:r>
            <a:endParaRPr lang="en-US" sz="1100" dirty="0"/>
          </a:p>
        </p:txBody>
      </p:sp>
      <p:sp>
        <p:nvSpPr>
          <p:cNvPr id="3" name="Text 0"/>
          <p:cNvSpPr/>
          <p:nvPr>
            <p:ph idx="101" type="title" hasCustomPrompt="1"/>
          </p:nvPr>
        </p:nvSpPr>
        <p:spPr>
          <a:xfrm>
            <a:off x="548640" y="594360"/>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Replace the predictions with measurements</a:t>
            </a:r>
            <a:endParaRPr lang="en-US" sz="2800" dirty="0"/>
          </a:p>
        </p:txBody>
      </p:sp>
      <p:sp>
        <p:nvSpPr>
          <p:cNvPr id="5" name="slide number"/>
          <p:cNvSpPr txBox="1"/>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8F8A82"/>
                </a:solidFill>
              </a:rPr>
              <a:t>23</a:t>
            </a:r>
            <a:endParaRPr lang="en-US" sz="900" dirty="0"/>
          </a:p>
        </p:txBody>
      </p:sp>
      <p:sp>
        <p:nvSpPr>
          <p:cNvPr id="6" name="next steps"/>
          <p:cNvSpPr txBox="1"/>
          <p:nvPr/>
        </p:nvSpPr>
        <p:spPr>
          <a:xfrm>
            <a:off x="548640" y="1645920"/>
            <a:ext cx="6035040" cy="384048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300" dirty="0">
                <a:solidFill>
                  <a:srgbClr val="15191C"/>
                </a:solidFill>
              </a:rPr>
              <a:t>Buy two or three incumbent plates and a CoolIT 4 kW-class plate; establish rig repeatability at or below 1 K (E0).</a:t>
            </a:r>
            <a:endParaRPr lang="en-US" sz="1300" dirty="0"/>
          </a:p>
          <a:p>
            <a:pPr marL="342900" indent="-342900">
              <a:spcAft>
                <a:spcPts val="800"/>
              </a:spcAft>
              <a:buSzPct val="100000"/>
              <a:buFont typeface="+mj-lt"/>
              <a:buAutoNum type="arabicPeriod" startAt="1"/>
            </a:pPr>
            <a:r>
              <a:rPr lang="en-US" sz="1300" dirty="0">
                <a:solidFill>
                  <a:srgbClr val="15191C"/>
                </a:solidFill>
              </a:rPr>
              <a:t>Run the 24-coupon tie-braze matrix across routes, fixture pressures and base thicknesses; prove per-strip detection (E1).</a:t>
            </a:r>
            <a:endParaRPr lang="en-US" sz="1300" dirty="0"/>
          </a:p>
          <a:p>
            <a:pPr marL="342900" indent="-342900">
              <a:spcAft>
                <a:spcPts val="800"/>
              </a:spcAft>
              <a:buSzPct val="100000"/>
              <a:buFont typeface="+mj-lt"/>
              <a:buAutoNum type="arabicPeriod" startAt="1"/>
            </a:pPr>
            <a:r>
              <a:rPr lang="en-US" sz="1300" dirty="0">
                <a:solidFill>
                  <a:srgbClr val="15191C"/>
                </a:solidFill>
              </a:rPr>
              <a:t>Water-table and single-cell CFD: segment max/min at or below 1.15, fin-top velocity at or below 0.5 m/s (E2).</a:t>
            </a:r>
            <a:endParaRPr lang="en-US" sz="1300" dirty="0"/>
          </a:p>
          <a:p>
            <a:pPr marL="342900" indent="-342900">
              <a:spcAft>
                <a:spcPts val="800"/>
              </a:spcAft>
              <a:buSzPct val="100000"/>
              <a:buFont typeface="+mj-lt"/>
              <a:buAutoNum type="arabicPeriod" startAt="1"/>
            </a:pPr>
            <a:r>
              <a:rPr lang="en-US" sz="1300" dirty="0">
                <a:solidFill>
                  <a:srgbClr val="15191C"/>
                </a:solidFill>
              </a:rPr>
              <a:t>Close the inter-lane items: 2.0 mm pins, 4.5 mm ear holes, the guard variant, the cap draw trial, the 316L separator for mass.</a:t>
            </a:r>
            <a:endParaRPr lang="en-US" sz="1300" dirty="0"/>
          </a:p>
          <a:p>
            <a:pPr marL="342900" indent="-342900">
              <a:spcAft>
                <a:spcPts val="800"/>
              </a:spcAft>
              <a:buSzPct val="100000"/>
              <a:buFont typeface="+mj-lt"/>
              <a:buAutoNum type="arabicPeriod" startAt="1"/>
            </a:pPr>
            <a:r>
              <a:rPr lang="en-US" sz="1300" dirty="0">
                <a:solidFill>
                  <a:srgbClr val="15191C"/>
                </a:solidFill>
              </a:rPr>
              <a:t>Gate G1 at month 3: freeze Rev A, release the fold tool, draw dies and slotting head, order Build A.</a:t>
            </a:r>
            <a:endParaRPr lang="en-US" sz="1300" dirty="0"/>
          </a:p>
        </p:txBody>
      </p:sp>
      <p:pic>
        <p:nvPicPr>
          <p:cNvPr id="7" name="Section through the plate along an inlet line" descr="Section through the plate along an inlet line">    </p:cNvPr>
          <p:cNvPicPr>
            <a:picLocks noChangeAspect="1"/>
          </p:cNvPicPr>
          <p:nvPr/>
        </p:nvPicPr>
        <p:blipFill>
          <a:blip r:embed="rId1"/>
          <a:srcRect l="0" r="0" t="0" b="0"/>
          <a:stretch/>
        </p:blipFill>
        <p:spPr>
          <a:xfrm>
            <a:off x="6858000" y="1645920"/>
            <a:ext cx="4754880" cy="3474720"/>
          </a:xfrm>
          <a:prstGeom prst="rect">
            <a:avLst/>
          </a:prstGeom>
        </p:spPr>
      </p:pic>
      <p:sp>
        <p:nvSpPr>
          <p:cNvPr id="8" name="text"/>
          <p:cNvSpPr txBox="1"/>
          <p:nvPr/>
        </p:nvSpPr>
        <p:spPr>
          <a:xfrm>
            <a:off x="548640" y="5486400"/>
            <a:ext cx="6035040" cy="731520"/>
          </a:xfrm>
          <a:prstGeom prst="rect">
            <a:avLst/>
          </a:prstGeom>
          <a:noFill/>
          <a:ln/>
        </p:spPr>
        <p:txBody>
          <a:bodyPr wrap="square" lIns="0" tIns="0" rIns="0" bIns="0" rtlCol="0" anchor="t"/>
          <a:lstStyle/>
          <a:p>
            <a:pPr indent="0" marL="0">
              <a:buNone/>
            </a:pPr>
            <a:r>
              <a:rPr lang="en-US" sz="1000" dirty="0">
                <a:solidFill>
                  <a:srgbClr val="8F8A82"/>
                </a:solidFill>
              </a:rPr>
              <a:t>Deliverables in hand today: architecture of record, eight design-definition documents, parametric CAD with STEP, STL and DXF, predicted datasheet, manufacturing package, this deck, the design report and the explainer video.</a:t>
            </a:r>
            <a:endParaRPr lang="en-US" sz="1000" dirty="0"/>
          </a:p>
        </p:txBody>
      </p:sp>
    </p:spTree>
  </p:cSld>
  <p:clrMapOvr>
    <a:masterClrMapping/>
  </p:clrMapOvr>
</p:sld>
</file>

<file path=ppt/theme/theme1.xml><?xml version="1.0" encoding="utf-8"?>
<a:theme xmlns:a="http://schemas.openxmlformats.org/drawingml/2006/main" name="PRISM copper">
  <a:themeElements>
    <a:clrScheme name="PRISM copper">
      <a:dk1>
        <a:srgbClr val="15191C"/>
      </a:dk1>
      <a:lt1>
        <a:srgbClr val="FFFFFF"/>
      </a:lt1>
      <a:dk2>
        <a:srgbClr val="4A5058"/>
      </a:dk2>
      <a:lt2>
        <a:srgbClr val="F4F1EC"/>
      </a:lt2>
      <a:accent1>
        <a:srgbClr val="B4643A"/>
      </a:accent1>
      <a:accent2>
        <a:srgbClr val="2F6F8F"/>
      </a:accent2>
      <a:accent3>
        <a:srgbClr val="D08A5E"/>
      </a:accent3>
      <a:accent4>
        <a:srgbClr val="7FC8F0"/>
      </a:accent4>
      <a:accent5>
        <a:srgbClr val="8F8A82"/>
      </a:accent5>
      <a:accent6>
        <a:srgbClr val="E9E4DA"/>
      </a:accent6>
      <a:hlink>
        <a:srgbClr val="2F6F8F"/>
      </a:hlink>
      <a:folHlink>
        <a:srgbClr val="8F8A82"/>
      </a:folHlink>
    </a:clrScheme>
    <a:fontScheme name="PRISM copp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PRISM-15 Rev A design review</dc:title>
  <dc:subject>Cold plate against the CoolIT 15 kW benchmark</dc:subject>
  <dc:creator>PRISM design team</dc:creator>
  <cp:lastModifiedBy>PRISM design team</cp:lastModifiedBy>
  <cp:revision>1</cp:revision>
  <dcterms:created xsi:type="dcterms:W3CDTF">2026-10-16T11:24:46Z</dcterms:created>
  <dcterms:modified xsi:type="dcterms:W3CDTF">2026-10-16T11:24:46Z</dcterms:modified>
</cp:coreProperties>
</file>